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033" autoAdjust="0"/>
  </p:normalViewPr>
  <p:slideViewPr>
    <p:cSldViewPr snapToGrid="0" snapToObjects="1">
      <p:cViewPr varScale="1">
        <p:scale>
          <a:sx n="62" d="100"/>
          <a:sy n="62" d="100"/>
        </p:scale>
        <p:origin x="145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E6DBE-7363-46A2-A53D-D9EB998A1123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50083-5AB3-4B58-BE88-9836A8633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6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morning/afternoon. My name is K.S.H. Liyanage.</a:t>
            </a:r>
          </a:p>
          <a:p>
            <a:r>
              <a:rPr lang="en-US" dirty="0"/>
              <a:t>My presentation is about </a:t>
            </a:r>
            <a:r>
              <a:rPr lang="en-US" b="1" dirty="0"/>
              <a:t>Cyber Resilience in the Energy Sector</a:t>
            </a:r>
            <a:r>
              <a:rPr lang="en-US" dirty="0"/>
              <a:t>.</a:t>
            </a:r>
          </a:p>
          <a:p>
            <a:r>
              <a:rPr lang="en-US" dirty="0"/>
              <a:t>This presentation is based on my review of cyber threats, challenges, and ways to improve cyber resilience in the energy sector.</a:t>
            </a:r>
          </a:p>
          <a:p>
            <a:r>
              <a:rPr lang="en-US" dirty="0"/>
              <a:t>Today, energy systems use technologies such as smart grids, SCADA, renewable energy systems, and automated controls.</a:t>
            </a:r>
          </a:p>
          <a:p>
            <a:r>
              <a:rPr lang="en-US" dirty="0"/>
              <a:t>These technologies make energy systems better and more efficient, but they also create new cyber risks.</a:t>
            </a:r>
          </a:p>
          <a:p>
            <a:r>
              <a:rPr lang="en-US" dirty="0"/>
              <a:t>So, this review looks at how energy systems can protect themselves, detect attacks, continue working during an attack, and recover afterwards.</a:t>
            </a:r>
          </a:p>
          <a:p>
            <a:endParaRPr lang="en-US" dirty="0"/>
          </a:p>
          <a:p>
            <a:r>
              <a:rPr lang="en-US" dirty="0"/>
              <a:t>40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50083-5AB3-4B58-BE88-9836A86334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79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the energy sector is not only a physical system. It is also connected to many digital systems.</a:t>
            </a:r>
          </a:p>
          <a:p>
            <a:r>
              <a:rPr lang="en-US" dirty="0"/>
              <a:t>Smart grids, SCADA, renewable energy, energy storage, and automated control systems are all connected and share information.</a:t>
            </a:r>
          </a:p>
          <a:p>
            <a:r>
              <a:rPr lang="en-US" dirty="0"/>
              <a:t>This makes the energy system more efficient, but it also increases the number of places that attackers can target.</a:t>
            </a:r>
          </a:p>
          <a:p>
            <a:r>
              <a:rPr lang="en-US" dirty="0"/>
              <a:t>For example, an attacker could change a measurement, send a harmful command, or stop communication between systems.</a:t>
            </a:r>
          </a:p>
          <a:p>
            <a:r>
              <a:rPr lang="en-US" dirty="0"/>
              <a:t>This could affect the physical operation of the energy system.</a:t>
            </a:r>
          </a:p>
          <a:p>
            <a:r>
              <a:rPr lang="en-US" dirty="0"/>
              <a:t>This is why cyber resilience is important.</a:t>
            </a:r>
          </a:p>
          <a:p>
            <a:r>
              <a:rPr lang="en-US" dirty="0"/>
              <a:t>Cybersecurity mainly tries to prevent attacks. But resilience also prepares the system for when an attack happens.</a:t>
            </a:r>
          </a:p>
          <a:p>
            <a:r>
              <a:rPr lang="en-US" dirty="0"/>
              <a:t>The main idea is to </a:t>
            </a:r>
            <a:r>
              <a:rPr lang="en-US" b="1" dirty="0"/>
              <a:t>anticipate, resist, detect, adapt, and recover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 seconds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50083-5AB3-4B58-BE88-9836A86334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80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review focuses on electricity systems, smart grids, cyber-physical power systems, and distributed energy resources.</a:t>
            </a:r>
          </a:p>
          <a:p>
            <a:r>
              <a:rPr lang="en-US" dirty="0"/>
              <a:t>The main question is:</a:t>
            </a:r>
          </a:p>
          <a:p>
            <a:r>
              <a:rPr lang="en-US" b="1" dirty="0"/>
              <a:t>How can modern energy systems prepare for, handle, detect, and recover from cyber attacks?</a:t>
            </a:r>
            <a:endParaRPr lang="en-US" dirty="0"/>
          </a:p>
          <a:p>
            <a:r>
              <a:rPr lang="en-US" dirty="0"/>
              <a:t>There are four main objectives.</a:t>
            </a:r>
          </a:p>
          <a:p>
            <a:r>
              <a:rPr lang="en-US" dirty="0"/>
              <a:t>First, to study how cyber threats and weaknesses in energy systems have changed over time.</a:t>
            </a:r>
          </a:p>
          <a:p>
            <a:r>
              <a:rPr lang="en-US" dirty="0"/>
              <a:t>Second, to study different ways of protecting and recovering energy systems from cyber attacks.</a:t>
            </a:r>
          </a:p>
          <a:p>
            <a:r>
              <a:rPr lang="en-US" dirty="0"/>
              <a:t>Third, to identify the main research trends and the current problems or gaps in this area.</a:t>
            </a:r>
          </a:p>
          <a:p>
            <a:r>
              <a:rPr lang="en-US" dirty="0"/>
              <a:t>And fourth, to identify future research areas that can make energy systems more secure and more resilient.</a:t>
            </a:r>
          </a:p>
          <a:p>
            <a:endParaRPr lang="en-US" dirty="0"/>
          </a:p>
          <a:p>
            <a:r>
              <a:rPr lang="en-US" dirty="0"/>
              <a:t>55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50083-5AB3-4B58-BE88-9836A86334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08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review, a PRISMA-based process was used to </a:t>
            </a:r>
            <a:r>
              <a:rPr lang="en-US" dirty="0" err="1"/>
              <a:t>organise</a:t>
            </a:r>
            <a:r>
              <a:rPr lang="en-US" dirty="0"/>
              <a:t> the literature review.</a:t>
            </a:r>
          </a:p>
          <a:p>
            <a:r>
              <a:rPr lang="en-US" dirty="0"/>
              <a:t>First is </a:t>
            </a:r>
            <a:r>
              <a:rPr lang="en-US" b="1" dirty="0"/>
              <a:t>identification</a:t>
            </a:r>
            <a:r>
              <a:rPr lang="en-US" dirty="0"/>
              <a:t>. Relevant research papers were searched using suitable keywords and academic sources.</a:t>
            </a:r>
          </a:p>
          <a:p>
            <a:r>
              <a:rPr lang="en-US" dirty="0"/>
              <a:t>Second is </a:t>
            </a:r>
            <a:r>
              <a:rPr lang="en-US" b="1" dirty="0"/>
              <a:t>screening</a:t>
            </a:r>
            <a:r>
              <a:rPr lang="en-US" dirty="0"/>
              <a:t>. Duplicate papers and papers that were not relevant were removed.</a:t>
            </a:r>
          </a:p>
          <a:p>
            <a:r>
              <a:rPr lang="en-US" dirty="0"/>
              <a:t>Third is </a:t>
            </a:r>
            <a:r>
              <a:rPr lang="en-US" b="1" dirty="0"/>
              <a:t>eligibility</a:t>
            </a:r>
            <a:r>
              <a:rPr lang="en-US" dirty="0"/>
              <a:t>. The remaining papers were checked using the inclusion and exclusion criteria.</a:t>
            </a:r>
          </a:p>
          <a:p>
            <a:r>
              <a:rPr lang="en-US" dirty="0"/>
              <a:t>Finally, the selected papers were studied and compared to find the main research themes and findings.</a:t>
            </a:r>
          </a:p>
          <a:p>
            <a:r>
              <a:rPr lang="en-US" dirty="0"/>
              <a:t>The review mainly focuses on research about smart grids, cyber-physical power systems, distributed energy resources, microgrids, and cyber resilience.</a:t>
            </a:r>
          </a:p>
          <a:p>
            <a:endParaRPr lang="en-US" dirty="0"/>
          </a:p>
          <a:p>
            <a:r>
              <a:rPr lang="en-US" dirty="0"/>
              <a:t>50 seconds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50083-5AB3-4B58-BE88-9836A86334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4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cybersecurity risks in the energy sector have changed over time.</a:t>
            </a:r>
          </a:p>
          <a:p>
            <a:r>
              <a:rPr lang="en-US" dirty="0"/>
              <a:t>In the beginning, the main focus was on traditional IT systems and SCADA systems.</a:t>
            </a:r>
          </a:p>
          <a:p>
            <a:r>
              <a:rPr lang="en-US" dirty="0"/>
              <a:t>Then smart-grid technologies became more common. More sensors, devices, and communication systems were connected to the grid.</a:t>
            </a:r>
          </a:p>
          <a:p>
            <a:r>
              <a:rPr lang="en-US" dirty="0"/>
              <a:t>This created a much larger attack surface.</a:t>
            </a:r>
          </a:p>
          <a:p>
            <a:r>
              <a:rPr lang="en-US" dirty="0"/>
              <a:t>Later, we started seeing attacks that could affect the physical operation of the power system. The Ukraine power-grid attack is an important example.</a:t>
            </a:r>
          </a:p>
          <a:p>
            <a:r>
              <a:rPr lang="en-US" dirty="0"/>
              <a:t>Today, we also have distributed energy resources, renewable energy, and microgrids.</a:t>
            </a:r>
          </a:p>
          <a:p>
            <a:r>
              <a:rPr lang="en-US" dirty="0"/>
              <a:t>Because of these changes, research is moving from simply protecting systems to making the whole energy system more resilient.</a:t>
            </a:r>
          </a:p>
          <a:p>
            <a:endParaRPr lang="en-US" dirty="0"/>
          </a:p>
          <a:p>
            <a:r>
              <a:rPr lang="en-US" dirty="0"/>
              <a:t>55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50083-5AB3-4B58-BE88-9836A86334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343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several major cyber threats to energy systems.</a:t>
            </a:r>
          </a:p>
          <a:p>
            <a:r>
              <a:rPr lang="en-US" dirty="0"/>
              <a:t>First is </a:t>
            </a:r>
            <a:r>
              <a:rPr lang="en-US" b="1" dirty="0"/>
              <a:t>false data injection</a:t>
            </a:r>
            <a:r>
              <a:rPr lang="en-US" dirty="0"/>
              <a:t>, where attackers change data or measurements to make the system make the wrong decision.</a:t>
            </a:r>
          </a:p>
          <a:p>
            <a:r>
              <a:rPr lang="en-US" dirty="0"/>
              <a:t>Second is </a:t>
            </a:r>
            <a:r>
              <a:rPr lang="en-US" b="1" dirty="0"/>
              <a:t>ransomware and malware</a:t>
            </a:r>
            <a:r>
              <a:rPr lang="en-US" dirty="0"/>
              <a:t>, which can stop systems from working properly.</a:t>
            </a:r>
          </a:p>
          <a:p>
            <a:r>
              <a:rPr lang="en-US" dirty="0"/>
              <a:t>Third is </a:t>
            </a:r>
            <a:r>
              <a:rPr lang="en-US" b="1" dirty="0"/>
              <a:t>denial-of-service attacks</a:t>
            </a:r>
            <a:r>
              <a:rPr lang="en-US" dirty="0"/>
              <a:t>, which can make communication or services unavailable.</a:t>
            </a:r>
          </a:p>
          <a:p>
            <a:r>
              <a:rPr lang="en-US" dirty="0"/>
              <a:t>Another threat is </a:t>
            </a:r>
            <a:r>
              <a:rPr lang="en-US" b="1" dirty="0"/>
              <a:t>credential compromise</a:t>
            </a:r>
            <a:r>
              <a:rPr lang="en-US" dirty="0"/>
              <a:t>, where attackers steal or misuse user accounts.</a:t>
            </a:r>
          </a:p>
          <a:p>
            <a:r>
              <a:rPr lang="en-US" dirty="0"/>
              <a:t>There are also </a:t>
            </a:r>
            <a:r>
              <a:rPr lang="en-US" b="1" dirty="0"/>
              <a:t>supply-chain attacks</a:t>
            </a:r>
            <a:r>
              <a:rPr lang="en-US" dirty="0"/>
              <a:t>, where weaknesses in software, hardware, vendors, or other connected components are used.</a:t>
            </a:r>
          </a:p>
          <a:p>
            <a:r>
              <a:rPr lang="en-US" dirty="0"/>
              <a:t>Finally, cyber attacks can cause </a:t>
            </a:r>
            <a:r>
              <a:rPr lang="en-US" b="1" dirty="0"/>
              <a:t>cascading failures</a:t>
            </a:r>
            <a:r>
              <a:rPr lang="en-US" dirty="0"/>
              <a:t>, where a problem in one part of the system can affect other parts.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 seconds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50083-5AB3-4B58-BE88-9836A86334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50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shows that we cannot depend on only one security method.</a:t>
            </a:r>
          </a:p>
          <a:p>
            <a:r>
              <a:rPr lang="en-US" dirty="0"/>
              <a:t>First is </a:t>
            </a:r>
            <a:r>
              <a:rPr lang="en-US" b="1" dirty="0"/>
              <a:t>prevention</a:t>
            </a:r>
            <a:r>
              <a:rPr lang="en-US" dirty="0"/>
              <a:t>. This includes secure system design, access control, and different layers of security.</a:t>
            </a:r>
          </a:p>
          <a:p>
            <a:r>
              <a:rPr lang="en-US" dirty="0"/>
              <a:t>Second is </a:t>
            </a:r>
            <a:r>
              <a:rPr lang="en-US" b="1" dirty="0"/>
              <a:t>detection</a:t>
            </a:r>
            <a:r>
              <a:rPr lang="en-US" dirty="0"/>
              <a:t>. The system needs to quickly identify unusual activity or attacks.</a:t>
            </a:r>
          </a:p>
          <a:p>
            <a:r>
              <a:rPr lang="en-US" dirty="0"/>
              <a:t>Third is </a:t>
            </a:r>
            <a:r>
              <a:rPr lang="en-US" b="1" dirty="0"/>
              <a:t>mitigation</a:t>
            </a:r>
            <a:r>
              <a:rPr lang="en-US" dirty="0"/>
              <a:t>. Once an attack is found, its impact needs to be reduced.</a:t>
            </a:r>
          </a:p>
          <a:p>
            <a:r>
              <a:rPr lang="en-US" dirty="0"/>
              <a:t>Fourth is </a:t>
            </a:r>
            <a:r>
              <a:rPr lang="en-US" b="1" dirty="0"/>
              <a:t>adaptation</a:t>
            </a:r>
            <a:r>
              <a:rPr lang="en-US" dirty="0"/>
              <a:t>. The system should be able to change its response when the attack or system condition changes.</a:t>
            </a:r>
          </a:p>
          <a:p>
            <a:r>
              <a:rPr lang="en-US" dirty="0"/>
              <a:t>Finally, there is </a:t>
            </a:r>
            <a:r>
              <a:rPr lang="en-US" b="1" dirty="0"/>
              <a:t>recovery</a:t>
            </a:r>
            <a:r>
              <a:rPr lang="en-US" dirty="0"/>
              <a:t>. The system needs to safely restore normal operations after an attack.</a:t>
            </a:r>
          </a:p>
          <a:p>
            <a:r>
              <a:rPr lang="en-US" dirty="0"/>
              <a:t>So, the main idea is that even if prevention fails, the system should still be able to continue important operations and recover.</a:t>
            </a:r>
          </a:p>
          <a:p>
            <a:endParaRPr lang="en-US" dirty="0"/>
          </a:p>
          <a:p>
            <a:r>
              <a:rPr lang="en-US" dirty="0"/>
              <a:t> 55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50083-5AB3-4B58-BE88-9836A86334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7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we look at the research together, we can see several important trends.</a:t>
            </a:r>
          </a:p>
          <a:p>
            <a:r>
              <a:rPr lang="en-US" dirty="0"/>
              <a:t>First, researchers are moving toward protecting the whole cyber-physical energy system, not just the IT side.</a:t>
            </a:r>
          </a:p>
          <a:p>
            <a:r>
              <a:rPr lang="en-US" dirty="0"/>
              <a:t>Second, AI and graph-based methods are becoming more important for detecting attacks and understanding what is happening in the system.</a:t>
            </a:r>
          </a:p>
          <a:p>
            <a:r>
              <a:rPr lang="en-US" dirty="0"/>
              <a:t>Third, renewable energy, distributed energy resources, and microgrids are creating new security and resilience problems.</a:t>
            </a:r>
          </a:p>
          <a:p>
            <a:r>
              <a:rPr lang="en-US" dirty="0"/>
              <a:t>However, there are still some gaps.</a:t>
            </a:r>
          </a:p>
          <a:p>
            <a:r>
              <a:rPr lang="en-US" dirty="0"/>
              <a:t>There are not enough common ways to measure cyber resilience.</a:t>
            </a:r>
          </a:p>
          <a:p>
            <a:r>
              <a:rPr lang="en-US" dirty="0"/>
              <a:t>Many solutions are still tested mainly using simulations.</a:t>
            </a:r>
          </a:p>
          <a:p>
            <a:r>
              <a:rPr lang="en-US" dirty="0"/>
              <a:t>Security systems also need to become more flexible when attacks change.</a:t>
            </a:r>
          </a:p>
          <a:p>
            <a:r>
              <a:rPr lang="en-US" dirty="0"/>
              <a:t>And IT recovery and OT recovery are not always properly connected.</a:t>
            </a:r>
          </a:p>
          <a:p>
            <a:endParaRPr lang="en-US" dirty="0"/>
          </a:p>
          <a:p>
            <a:r>
              <a:rPr lang="en-US" dirty="0"/>
              <a:t>55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50083-5AB3-4B58-BE88-9836A86334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60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these research gaps, the review identifies five future research areas.</a:t>
            </a:r>
          </a:p>
          <a:p>
            <a:r>
              <a:rPr lang="en-US" b="1" dirty="0"/>
              <a:t>First, resilience metrics.</a:t>
            </a:r>
            <a:endParaRPr lang="en-US" dirty="0"/>
          </a:p>
          <a:p>
            <a:r>
              <a:rPr lang="en-US" dirty="0"/>
              <a:t>We need better ways to measure how well an energy system can continue working and recover after a cyber attack.</a:t>
            </a:r>
          </a:p>
          <a:p>
            <a:r>
              <a:rPr lang="en-US" b="1" dirty="0"/>
              <a:t>Second, adaptive cyber defense.</a:t>
            </a:r>
            <a:endParaRPr lang="en-US" dirty="0"/>
          </a:p>
          <a:p>
            <a:r>
              <a:rPr lang="en-US" dirty="0"/>
              <a:t>Future security systems should be able to change their response when attackers change their methods.</a:t>
            </a:r>
          </a:p>
          <a:p>
            <a:r>
              <a:rPr lang="en-US" b="1" dirty="0"/>
              <a:t>Third, digital twins and testbeds.</a:t>
            </a:r>
            <a:endParaRPr lang="en-US" dirty="0"/>
          </a:p>
          <a:p>
            <a:r>
              <a:rPr lang="en-US" dirty="0"/>
              <a:t>These can help researchers test cyber attacks and defense methods in more realistic energy-system environments.</a:t>
            </a:r>
          </a:p>
          <a:p>
            <a:r>
              <a:rPr lang="en-US" b="1" dirty="0"/>
              <a:t>Fourth, resilience by design.</a:t>
            </a:r>
            <a:endParaRPr lang="en-US" dirty="0"/>
          </a:p>
          <a:p>
            <a:r>
              <a:rPr lang="en-US" dirty="0"/>
              <a:t>Resilience should be included from the beginning when designing renewable systems, microgrids, and distributed energy systems.</a:t>
            </a:r>
          </a:p>
          <a:p>
            <a:r>
              <a:rPr lang="en-US" b="1" dirty="0"/>
              <a:t>Finally, integrated IT and OT recovery.</a:t>
            </a:r>
            <a:endParaRPr lang="en-US" dirty="0"/>
          </a:p>
          <a:p>
            <a:r>
              <a:rPr lang="en-US" dirty="0"/>
              <a:t>Future recovery plans should consider both the technical systems and the people who operate them.</a:t>
            </a:r>
          </a:p>
          <a:p>
            <a:endParaRPr lang="en-US" dirty="0"/>
          </a:p>
          <a:p>
            <a:r>
              <a:rPr lang="en-US" dirty="0"/>
              <a:t>65 seconds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50083-5AB3-4B58-BE88-9836A86334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41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conclude, the energy sector is becoming more digital, more connected, and more </a:t>
            </a:r>
            <a:r>
              <a:rPr lang="en-US" dirty="0" err="1"/>
              <a:t>decentralised</a:t>
            </a:r>
            <a:r>
              <a:rPr lang="en-US" dirty="0"/>
              <a:t>.</a:t>
            </a:r>
          </a:p>
          <a:p>
            <a:r>
              <a:rPr lang="en-US" dirty="0"/>
              <a:t>This gives us many benefits, but it also increases the possible impact of cyber attacks.</a:t>
            </a:r>
          </a:p>
          <a:p>
            <a:r>
              <a:rPr lang="en-US" dirty="0"/>
              <a:t>The research shows that cybersecurity alone is not enough.</a:t>
            </a:r>
          </a:p>
          <a:p>
            <a:r>
              <a:rPr lang="en-US" dirty="0"/>
              <a:t>Energy systems need to be able to </a:t>
            </a:r>
            <a:r>
              <a:rPr lang="en-US" b="1" dirty="0"/>
              <a:t>protect, detect, adapt, and recover</a:t>
            </a:r>
            <a:r>
              <a:rPr lang="en-US" dirty="0"/>
              <a:t>.</a:t>
            </a:r>
          </a:p>
          <a:p>
            <a:r>
              <a:rPr lang="en-US" dirty="0"/>
              <a:t>This means security should be included when the energy system is designed, and not added only after a problem happens.</a:t>
            </a:r>
          </a:p>
          <a:p>
            <a:r>
              <a:rPr lang="en-US" dirty="0"/>
              <a:t>The main message from this review is that cybersecurity and cyber resilience need to work together.</a:t>
            </a:r>
          </a:p>
          <a:p>
            <a:r>
              <a:rPr lang="en-US" dirty="0"/>
              <a:t>A strong energy system should be prepared not only to prevent attacks, but also to continue operating and recover when attacks happen.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55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50083-5AB3-4B58-BE88-9836A86334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712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some of the main references used for this review.</a:t>
            </a:r>
          </a:p>
          <a:p>
            <a:r>
              <a:rPr lang="en-US" dirty="0"/>
              <a:t>The complete reference list is included in the review paper using the IEEE format.</a:t>
            </a:r>
          </a:p>
          <a:p>
            <a:r>
              <a:rPr lang="en-US" dirty="0"/>
              <a:t>These studies cover smart-grid security, cyber-physical attacks, distributed energy resources, cyber resilience, and attack detection.</a:t>
            </a:r>
          </a:p>
          <a:p>
            <a:r>
              <a:rPr lang="en-US"/>
              <a:t>Thank you for listening.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50083-5AB3-4B58-BE88-9836A86334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39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46720" y="1097280"/>
            <a:ext cx="45720" cy="502920"/>
          </a:xfrm>
          <a:prstGeom prst="round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32520" y="1755648"/>
            <a:ext cx="45720" cy="502920"/>
          </a:xfrm>
          <a:prstGeom prst="round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46720" y="2414015"/>
            <a:ext cx="45720" cy="502920"/>
          </a:xfrm>
          <a:prstGeom prst="round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32520" y="3072384"/>
            <a:ext cx="45720" cy="502920"/>
          </a:xfrm>
          <a:prstGeom prst="round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20" y="3730752"/>
            <a:ext cx="45720" cy="502920"/>
          </a:xfrm>
          <a:prstGeom prst="round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732520" y="4389120"/>
            <a:ext cx="45720" cy="502920"/>
          </a:xfrm>
          <a:prstGeom prst="round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0" y="5047488"/>
            <a:ext cx="45720" cy="502920"/>
          </a:xfrm>
          <a:prstGeom prst="round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2468880" cy="22860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2103120"/>
            <a:ext cx="2468880" cy="22860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2926080"/>
            <a:ext cx="2468880" cy="22860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3749039"/>
            <a:ext cx="2468880" cy="22860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4572000"/>
            <a:ext cx="2468880" cy="22860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5394960"/>
            <a:ext cx="2468880" cy="22860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0" y="1417320"/>
            <a:ext cx="228600" cy="228600"/>
          </a:xfrm>
          <a:prstGeom prst="ellipse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92640" y="2240280"/>
            <a:ext cx="228600" cy="228600"/>
          </a:xfrm>
          <a:prstGeom prst="ellipse">
            <a:avLst/>
          </a:prstGeom>
          <a:solidFill>
            <a:srgbClr val="41C3CC"/>
          </a:solidFill>
          <a:ln>
            <a:solidFill>
              <a:srgbClr val="41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23960" y="3063240"/>
            <a:ext cx="228600" cy="228600"/>
          </a:xfrm>
          <a:prstGeom prst="ellipse">
            <a:avLst/>
          </a:prstGeom>
          <a:solidFill>
            <a:srgbClr val="F29C4B"/>
          </a:solidFill>
          <a:ln>
            <a:solidFill>
              <a:srgbClr val="F29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378440" y="3794760"/>
            <a:ext cx="228600" cy="228600"/>
          </a:xfrm>
          <a:prstGeom prst="ellipse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12480" y="4663440"/>
            <a:ext cx="228600" cy="228600"/>
          </a:xfrm>
          <a:prstGeom prst="ellipse">
            <a:avLst/>
          </a:prstGeom>
          <a:solidFill>
            <a:srgbClr val="8D71D2"/>
          </a:solidFill>
          <a:ln>
            <a:solidFill>
              <a:srgbClr val="8D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921240" y="5074920"/>
            <a:ext cx="228600" cy="228600"/>
          </a:xfrm>
          <a:prstGeom prst="ellipse">
            <a:avLst/>
          </a:prstGeom>
          <a:solidFill>
            <a:srgbClr val="52BE87"/>
          </a:solidFill>
          <a:ln>
            <a:solidFill>
              <a:srgbClr val="52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713232"/>
            <a:ext cx="6217920" cy="4114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800" b="1" i="0" dirty="0">
                <a:solidFill>
                  <a:srgbClr val="157A70"/>
                </a:solidFill>
                <a:latin typeface="Calibri"/>
              </a:rPr>
              <a:t>CYBER RESILIENCE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1325880"/>
            <a:ext cx="6858000" cy="10058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3900" b="1" i="0">
                <a:solidFill>
                  <a:srgbClr val="14283D"/>
                </a:solidFill>
                <a:latin typeface="Calibri"/>
              </a:rPr>
              <a:t>in the Energy Sector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2487168"/>
            <a:ext cx="6583680" cy="9144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000" b="0" i="0">
                <a:solidFill>
                  <a:srgbClr val="1F3347"/>
                </a:solidFill>
                <a:latin typeface="Calibri"/>
              </a:rPr>
              <a:t>A systematic review of cyber threats, challenges, and emerging resilience strategies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" y="3767328"/>
            <a:ext cx="5166360" cy="36576"/>
          </a:xfrm>
          <a:prstGeom prst="rect">
            <a:avLst/>
          </a:prstGeom>
          <a:solidFill>
            <a:srgbClr val="F29C4B"/>
          </a:solidFill>
          <a:ln>
            <a:solidFill>
              <a:srgbClr val="F29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4096512"/>
            <a:ext cx="4389120" cy="3657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700" b="1" i="0">
                <a:solidFill>
                  <a:srgbClr val="14283D"/>
                </a:solidFill>
                <a:latin typeface="Calibri"/>
              </a:rPr>
              <a:t>K.S.H. Liyanage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526280"/>
            <a:ext cx="5303520" cy="11430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50" b="0" i="0">
                <a:solidFill>
                  <a:srgbClr val="4A5B6C"/>
                </a:solidFill>
                <a:latin typeface="Calibri"/>
              </a:rPr>
              <a:t>Department of Computer Science</a:t>
            </a:r>
            <a:br>
              <a:rPr sz="1250" b="0" i="0">
                <a:solidFill>
                  <a:srgbClr val="4A5B6C"/>
                </a:solidFill>
                <a:latin typeface="Calibri"/>
              </a:rPr>
            </a:br>
            <a:r>
              <a:rPr sz="1250" b="0" i="0">
                <a:solidFill>
                  <a:srgbClr val="4A5B6C"/>
                </a:solidFill>
                <a:latin typeface="Calibri"/>
              </a:rPr>
              <a:t>Faculty of Computing</a:t>
            </a:r>
            <a:br>
              <a:rPr sz="1250" b="0" i="0">
                <a:solidFill>
                  <a:srgbClr val="4A5B6C"/>
                </a:solidFill>
                <a:latin typeface="Calibri"/>
              </a:rPr>
            </a:br>
            <a:r>
              <a:rPr sz="1250" b="0" i="0">
                <a:solidFill>
                  <a:srgbClr val="4A5B6C"/>
                </a:solidFill>
                <a:latin typeface="Calibri"/>
              </a:rPr>
              <a:t>Sri Lanka Institute of Information Technology</a:t>
            </a:r>
            <a:br>
              <a:rPr sz="1250" b="0" i="0">
                <a:solidFill>
                  <a:srgbClr val="4A5B6C"/>
                </a:solidFill>
                <a:latin typeface="Calibri"/>
              </a:rPr>
            </a:br>
            <a:r>
              <a:rPr sz="1250" b="0" i="0">
                <a:solidFill>
                  <a:srgbClr val="4A5B6C"/>
                </a:solidFill>
                <a:latin typeface="Calibri"/>
              </a:rPr>
              <a:t>Malabe, Sri Lanka</a:t>
            </a:r>
            <a:br>
              <a:rPr sz="1250" b="0" i="0">
                <a:solidFill>
                  <a:srgbClr val="4A5B6C"/>
                </a:solidFill>
                <a:latin typeface="Calibri"/>
              </a:rPr>
            </a:br>
            <a:r>
              <a:rPr sz="1250" b="0" i="0">
                <a:solidFill>
                  <a:srgbClr val="4A5B6C"/>
                </a:solidFill>
                <a:latin typeface="Calibri"/>
              </a:rPr>
              <a:t>it23382558@my.sliit.lk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6144768"/>
            <a:ext cx="676656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050" b="0" i="0">
                <a:solidFill>
                  <a:srgbClr val="1A8A94"/>
                </a:solidFill>
                <a:latin typeface="Calibri"/>
              </a:rPr>
              <a:t>IT4041  •  Introduction to Information Security Analytics</a:t>
            </a:r>
          </a:p>
        </p:txBody>
      </p:sp>
      <p:pic>
        <p:nvPicPr>
          <p:cNvPr id="88" name="Audio 87">
            <a:hlinkClick r:id="" action="ppaction://media"/>
            <a:extLst>
              <a:ext uri="{FF2B5EF4-FFF2-40B4-BE49-F238E27FC236}">
                <a16:creationId xmlns:a16="http://schemas.microsoft.com/office/drawing/2014/main" id="{1A7ADC79-0209-1413-9A0D-D9D158317B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138"/>
    </mc:Choice>
    <mc:Fallback>
      <p:transition spd="slow" advTm="431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500" b="1" i="0">
                <a:solidFill>
                  <a:srgbClr val="14283D"/>
                </a:solidFill>
                <a:latin typeface="Calibri"/>
              </a:rPr>
              <a:t>Why Cyber Resilience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8992" y="841248"/>
            <a:ext cx="914400" cy="41148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932688"/>
            <a:ext cx="10241280" cy="34747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150" b="0" i="0">
                <a:solidFill>
                  <a:srgbClr val="4A5B6C"/>
                </a:solidFill>
                <a:latin typeface="Calibri"/>
              </a:rPr>
              <a:t>The energy sector is now a tightly coupled cyber-physical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54864" cy="1874519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81912"/>
            <a:ext cx="306324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Digital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93392"/>
            <a:ext cx="3063240" cy="116128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50" b="0" i="0">
                <a:solidFill>
                  <a:srgbClr val="4A5B6C"/>
                </a:solidFill>
                <a:latin typeface="Calibri"/>
              </a:rPr>
              <a:t>Smart grids, SCADA, DERs, renewable generation, storage and automated control increase efficiency — but also expand the attack surface.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54864" cy="1874519"/>
          </a:xfrm>
          <a:prstGeom prst="rect">
            <a:avLst/>
          </a:prstGeom>
          <a:solidFill>
            <a:srgbClr val="F29C4B"/>
          </a:solidFill>
          <a:ln>
            <a:solidFill>
              <a:srgbClr val="F29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81912"/>
            <a:ext cx="306324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Cyber → physical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93392"/>
            <a:ext cx="3063240" cy="116128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50" b="0" i="0">
                <a:solidFill>
                  <a:srgbClr val="4A5B6C"/>
                </a:solidFill>
                <a:latin typeface="Calibri"/>
              </a:rPr>
              <a:t>A manipulated measurement, malicious command or communication outage can affect physical processes, availability and safety.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4173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417320"/>
            <a:ext cx="54864" cy="1874519"/>
          </a:xfrm>
          <a:prstGeom prst="rect">
            <a:avLst/>
          </a:prstGeom>
          <a:solidFill>
            <a:srgbClr val="41C3CC"/>
          </a:solidFill>
          <a:ln>
            <a:solidFill>
              <a:srgbClr val="41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581912"/>
            <a:ext cx="306324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Why resilience?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93392"/>
            <a:ext cx="3063240" cy="116128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50" b="0" i="0">
                <a:solidFill>
                  <a:srgbClr val="4A5B6C"/>
                </a:solidFill>
                <a:latin typeface="Calibri"/>
              </a:rPr>
              <a:t>Security aims to prevent compromise. Resilience assumes disruption can occur and focuses on maintaining essential functions and recovering safely.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22191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THE RESILIENCE LIFECYCLE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15968"/>
            <a:ext cx="1965960" cy="347472"/>
          </a:xfrm>
          <a:prstGeom prst="round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4325112"/>
            <a:ext cx="1892807" cy="292608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algn="ctr"/>
            <a:r>
              <a:rPr sz="1000" b="1" i="0">
                <a:solidFill>
                  <a:srgbClr val="091626"/>
                </a:solidFill>
                <a:latin typeface="Calibri"/>
              </a:rPr>
              <a:t>ANTICIPATE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4325112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800" b="1" i="0">
                <a:solidFill>
                  <a:srgbClr val="4A5B6C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4315968"/>
            <a:ext cx="1965960" cy="347472"/>
          </a:xfrm>
          <a:prstGeom prst="roundRect">
            <a:avLst/>
          </a:prstGeom>
          <a:solidFill>
            <a:srgbClr val="41C3CC"/>
          </a:solidFill>
          <a:ln>
            <a:solidFill>
              <a:srgbClr val="41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08376" y="4325112"/>
            <a:ext cx="1892807" cy="292608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algn="ctr"/>
            <a:r>
              <a:rPr sz="1000" b="1" i="0">
                <a:solidFill>
                  <a:srgbClr val="091626"/>
                </a:solidFill>
                <a:latin typeface="Calibri"/>
              </a:rPr>
              <a:t>RESIST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5192" y="4325112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800" b="1" i="0">
                <a:solidFill>
                  <a:srgbClr val="4A5B6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4315968"/>
            <a:ext cx="1965960" cy="347472"/>
          </a:xfrm>
          <a:prstGeom prst="roundRect">
            <a:avLst/>
          </a:prstGeom>
          <a:solidFill>
            <a:srgbClr val="F29C4B"/>
          </a:solidFill>
          <a:ln>
            <a:solidFill>
              <a:srgbClr val="F29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94376" y="4325112"/>
            <a:ext cx="1892807" cy="292608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algn="ctr"/>
            <a:r>
              <a:rPr sz="1000" b="1" i="0">
                <a:solidFill>
                  <a:srgbClr val="091626"/>
                </a:solidFill>
                <a:latin typeface="Calibri"/>
              </a:rPr>
              <a:t>DETECT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4325112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800" b="1" i="0">
                <a:solidFill>
                  <a:srgbClr val="4A5B6C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315968"/>
            <a:ext cx="1965960" cy="347472"/>
          </a:xfrm>
          <a:prstGeom prst="roundRect">
            <a:avLst/>
          </a:prstGeom>
          <a:solidFill>
            <a:srgbClr val="8D71D2"/>
          </a:solidFill>
          <a:ln>
            <a:solidFill>
              <a:srgbClr val="8D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0375" y="4325112"/>
            <a:ext cx="1892807" cy="292608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algn="ctr"/>
            <a:r>
              <a:rPr sz="1000" b="1" i="0">
                <a:solidFill>
                  <a:srgbClr val="091626"/>
                </a:solidFill>
                <a:latin typeface="Calibri"/>
              </a:rPr>
              <a:t>ADAPT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7192" y="4325112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800" b="1" i="0">
                <a:solidFill>
                  <a:srgbClr val="4A5B6C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4315968"/>
            <a:ext cx="1965960" cy="347472"/>
          </a:xfrm>
          <a:prstGeom prst="roundRect">
            <a:avLst/>
          </a:prstGeom>
          <a:solidFill>
            <a:srgbClr val="52BE87"/>
          </a:solidFill>
          <a:ln>
            <a:solidFill>
              <a:srgbClr val="52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66376" y="4325112"/>
            <a:ext cx="1892807" cy="292608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algn="ctr"/>
            <a:r>
              <a:rPr sz="1000" b="1" i="0">
                <a:solidFill>
                  <a:srgbClr val="091626"/>
                </a:solidFill>
                <a:latin typeface="Calibri"/>
              </a:rPr>
              <a:t>RECOVER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074920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800" b="1" i="0">
                <a:solidFill>
                  <a:srgbClr val="14283D"/>
                </a:solidFill>
                <a:latin typeface="Calibri"/>
              </a:rPr>
              <a:t>Key idea: resilience extends cybersecurity from protection alone to continuity, adaptation and recovery.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59436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850" b="0" i="0">
                <a:solidFill>
                  <a:srgbClr val="4A5B6C"/>
                </a:solidFill>
                <a:latin typeface="Calibri"/>
              </a:rPr>
              <a:t>K.S.H. Liyanage  |  IT4041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6510528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850" b="0" i="0">
                <a:solidFill>
                  <a:srgbClr val="4A5B6C"/>
                </a:solidFill>
                <a:latin typeface="Calibri"/>
              </a:rPr>
              <a:t>Cyber Resilience in the Energy Sector</a:t>
            </a:r>
          </a:p>
        </p:txBody>
      </p:sp>
      <p:pic>
        <p:nvPicPr>
          <p:cNvPr id="65" name="Audio 64">
            <a:hlinkClick r:id="" action="ppaction://media"/>
            <a:extLst>
              <a:ext uri="{FF2B5EF4-FFF2-40B4-BE49-F238E27FC236}">
                <a16:creationId xmlns:a16="http://schemas.microsoft.com/office/drawing/2014/main" id="{308EB4B5-36C1-4B16-7222-1271E5A6BE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195"/>
    </mc:Choice>
    <mc:Fallback>
      <p:transition spd="slow" advTm="611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500" b="1" i="0">
                <a:solidFill>
                  <a:srgbClr val="14283D"/>
                </a:solidFill>
                <a:latin typeface="Calibri"/>
              </a:rPr>
              <a:t>Research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8992" y="841248"/>
            <a:ext cx="914400" cy="41148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932688"/>
            <a:ext cx="10241280" cy="34747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150" b="0" i="0">
                <a:solidFill>
                  <a:srgbClr val="4A5B6C"/>
                </a:solidFill>
                <a:latin typeface="Calibri"/>
              </a:rPr>
              <a:t>The review focuses on electricity systems, smart grids, cyber-physical power systems and 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100" b="1" i="0">
                <a:solidFill>
                  <a:srgbClr val="157A70"/>
                </a:solidFill>
                <a:latin typeface="Calibri"/>
              </a:rPr>
              <a:t>RESEARCH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69848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200" b="1" i="0">
                <a:solidFill>
                  <a:srgbClr val="14283D"/>
                </a:solidFill>
                <a:latin typeface="Calibri"/>
              </a:rPr>
              <a:t>How can modern energy systems anticipate, withstand, detect, contain, adapt to, and recover from cyber disruption?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670048"/>
            <a:ext cx="438912" cy="438912"/>
          </a:xfrm>
          <a:prstGeom prst="round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724912"/>
            <a:ext cx="438912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200" b="1" i="0">
                <a:solidFill>
                  <a:srgbClr val="09162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51760"/>
            <a:ext cx="9875520" cy="53035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20" b="0" i="0">
                <a:solidFill>
                  <a:srgbClr val="1F3347"/>
                </a:solidFill>
                <a:latin typeface="Calibri"/>
              </a:rPr>
              <a:t>Examine the evolution of cyber threats and vulnerabilities affecting modern energy and smart-grid infrastructures.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419856"/>
            <a:ext cx="438912" cy="438912"/>
          </a:xfrm>
          <a:prstGeom prst="roundRect">
            <a:avLst/>
          </a:prstGeom>
          <a:solidFill>
            <a:srgbClr val="41C3CC"/>
          </a:solidFill>
          <a:ln>
            <a:solidFill>
              <a:srgbClr val="41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474720"/>
            <a:ext cx="438912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200" b="1" i="0">
                <a:solidFill>
                  <a:srgbClr val="09162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01568"/>
            <a:ext cx="9875520" cy="53035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20" b="0" i="0">
                <a:solidFill>
                  <a:srgbClr val="1F3347"/>
                </a:solidFill>
                <a:latin typeface="Calibri"/>
              </a:rPr>
              <a:t>Analyse resilience mechanisms across prevention, detection, mitigation, adaptive response, continuity and recovery.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169663"/>
            <a:ext cx="438912" cy="438912"/>
          </a:xfrm>
          <a:prstGeom prst="roundRect">
            <a:avLst/>
          </a:prstGeom>
          <a:solidFill>
            <a:srgbClr val="F29C4B"/>
          </a:solidFill>
          <a:ln>
            <a:solidFill>
              <a:srgbClr val="F29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4224527"/>
            <a:ext cx="438912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200" b="1" i="0">
                <a:solidFill>
                  <a:srgbClr val="091626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151376"/>
            <a:ext cx="9875520" cy="53035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20" b="0" i="0">
                <a:solidFill>
                  <a:srgbClr val="1F3347"/>
                </a:solidFill>
                <a:latin typeface="Calibri"/>
              </a:rPr>
              <a:t>Synthesise research trends and identify limitations in evaluation, architecture, operational integration and resilience measurement.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919472"/>
            <a:ext cx="438912" cy="438912"/>
          </a:xfrm>
          <a:prstGeom prst="roundRect">
            <a:avLst/>
          </a:prstGeom>
          <a:solidFill>
            <a:srgbClr val="8D71D2"/>
          </a:solidFill>
          <a:ln>
            <a:solidFill>
              <a:srgbClr val="8D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4974336"/>
            <a:ext cx="438912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200" b="1" i="0">
                <a:solidFill>
                  <a:srgbClr val="091626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01184"/>
            <a:ext cx="9875520" cy="53035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20" b="0" i="0">
                <a:solidFill>
                  <a:srgbClr val="1F3347"/>
                </a:solidFill>
                <a:latin typeface="Calibri"/>
              </a:rPr>
              <a:t>Identify evidence-supported future directions for adaptive, measurable and operationally realistic cyber-resilient energy systems.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59436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850" b="0" i="0">
                <a:solidFill>
                  <a:srgbClr val="4A5B6C"/>
                </a:solidFill>
                <a:latin typeface="Calibri"/>
              </a:rPr>
              <a:t>K.S.H. Liyanage  |  IT4041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6510528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850" b="0" i="0">
                <a:solidFill>
                  <a:srgbClr val="4A5B6C"/>
                </a:solidFill>
                <a:latin typeface="Calibri"/>
              </a:rPr>
              <a:t>Cyber Resilience in the Energy Sector</a:t>
            </a:r>
          </a:p>
        </p:txBody>
      </p:sp>
      <p:pic>
        <p:nvPicPr>
          <p:cNvPr id="44" name="Audio 43">
            <a:hlinkClick r:id="" action="ppaction://media"/>
            <a:extLst>
              <a:ext uri="{FF2B5EF4-FFF2-40B4-BE49-F238E27FC236}">
                <a16:creationId xmlns:a16="http://schemas.microsoft.com/office/drawing/2014/main" id="{CD464BBB-F514-5F01-483E-FBDE5E7AF6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074"/>
    </mc:Choice>
    <mc:Fallback>
      <p:transition spd="slow" advTm="510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500" b="1" i="0">
                <a:solidFill>
                  <a:srgbClr val="14283D"/>
                </a:solidFill>
                <a:latin typeface="Calibri"/>
              </a:rPr>
              <a:t>Review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8992" y="841248"/>
            <a:ext cx="914400" cy="41148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932688"/>
            <a:ext cx="10241280" cy="34747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150" b="0" i="0">
                <a:solidFill>
                  <a:srgbClr val="4A5B6C"/>
                </a:solidFill>
                <a:latin typeface="Calibri"/>
              </a:rPr>
              <a:t>PRISMA-aligned systematic selection with narrative and thematic synthesis.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514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4864" cy="2331720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1673351"/>
            <a:ext cx="1709928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84831"/>
            <a:ext cx="2148840" cy="161848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50" b="0" i="0">
                <a:solidFill>
                  <a:srgbClr val="4A5B6C"/>
                </a:solidFill>
                <a:latin typeface="Calibri"/>
              </a:rPr>
              <a:t>Academic databases and targeted search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00" b="1" i="0">
                <a:solidFill>
                  <a:srgbClr val="157A70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331720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2000" b="1" i="0">
                <a:solidFill>
                  <a:srgbClr val="4A5B6C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508760"/>
            <a:ext cx="2514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508760"/>
            <a:ext cx="54864" cy="2331720"/>
          </a:xfrm>
          <a:prstGeom prst="rect">
            <a:avLst/>
          </a:prstGeom>
          <a:solidFill>
            <a:srgbClr val="41C3CC"/>
          </a:solidFill>
          <a:ln>
            <a:solidFill>
              <a:srgbClr val="41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9" y="1673351"/>
            <a:ext cx="1709928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084831"/>
            <a:ext cx="2148840" cy="161848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50" b="0" i="0">
                <a:solidFill>
                  <a:srgbClr val="4A5B6C"/>
                </a:solidFill>
                <a:latin typeface="Calibri"/>
              </a:rPr>
              <a:t>Remove duplicates and assess relevance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709928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00" b="1" i="0">
                <a:solidFill>
                  <a:srgbClr val="1A8A94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7" y="2331720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2000" b="1" i="0">
                <a:solidFill>
                  <a:srgbClr val="4A5B6C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08760"/>
            <a:ext cx="2514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508760"/>
            <a:ext cx="54864" cy="2331720"/>
          </a:xfrm>
          <a:prstGeom prst="rect">
            <a:avLst/>
          </a:prstGeom>
          <a:solidFill>
            <a:srgbClr val="F29C4B"/>
          </a:solidFill>
          <a:ln>
            <a:solidFill>
              <a:srgbClr val="F29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03719" y="1673351"/>
            <a:ext cx="1709928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ELIGIBILITY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2084831"/>
            <a:ext cx="2148840" cy="161848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50" b="0" i="0">
                <a:solidFill>
                  <a:srgbClr val="4A5B6C"/>
                </a:solidFill>
                <a:latin typeface="Calibri"/>
              </a:rPr>
              <a:t>Apply inclusion/exclusion 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709928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00" b="1" i="0">
                <a:solidFill>
                  <a:srgbClr val="C26A12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2331720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2000" b="1" i="0">
                <a:solidFill>
                  <a:srgbClr val="4A5B6C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59" y="1508760"/>
            <a:ext cx="2514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52559" y="1508760"/>
            <a:ext cx="54864" cy="2331720"/>
          </a:xfrm>
          <a:prstGeom prst="rect">
            <a:avLst/>
          </a:prstGeom>
          <a:solidFill>
            <a:srgbClr val="8D71D2"/>
          </a:solidFill>
          <a:ln>
            <a:solidFill>
              <a:srgbClr val="8D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0" y="1673351"/>
            <a:ext cx="1709928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SYNTHESISE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084831"/>
            <a:ext cx="2148840" cy="161848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50" b="0" i="0">
                <a:solidFill>
                  <a:srgbClr val="4A5B6C"/>
                </a:solidFill>
                <a:latin typeface="Calibri"/>
              </a:rPr>
              <a:t>Extract evidence and compare themes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39" y="1709928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00" b="1" i="0">
                <a:solidFill>
                  <a:srgbClr val="6A4FB8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315968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Evidence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645152"/>
            <a:ext cx="10424160" cy="114300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57A70"/>
                </a:solidFill>
                <a:latin typeface="Calibri"/>
              </a:rPr>
              <a:t>●  </a:t>
            </a:r>
            <a:r>
              <a:rPr sz="1400">
                <a:solidFill>
                  <a:srgbClr val="1F3347"/>
                </a:solidFill>
                <a:latin typeface="Calibri"/>
              </a:rPr>
              <a:t>Peer-reviewed research on smart grids, cyber-physical power systems, DERs, microgrids and resilience.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57A70"/>
                </a:solidFill>
                <a:latin typeface="Calibri"/>
              </a:rPr>
              <a:t>●  </a:t>
            </a:r>
            <a:r>
              <a:rPr sz="1400">
                <a:solidFill>
                  <a:srgbClr val="1F3347"/>
                </a:solidFill>
                <a:latin typeface="Calibri"/>
              </a:rPr>
              <a:t>Recent literature was prioritised, while foundational studies were retained to explain the longitudinal development of the field.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57A70"/>
                </a:solidFill>
                <a:latin typeface="Calibri"/>
              </a:rPr>
              <a:t>●  </a:t>
            </a:r>
            <a:r>
              <a:rPr sz="1400">
                <a:solidFill>
                  <a:srgbClr val="1F3347"/>
                </a:solidFill>
                <a:latin typeface="Calibri"/>
              </a:rPr>
              <a:t>Selected authoritative sources were used for standards and documented incidents.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59436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850" b="0" i="0">
                <a:solidFill>
                  <a:srgbClr val="4A5B6C"/>
                </a:solidFill>
                <a:latin typeface="Calibri"/>
              </a:rPr>
              <a:t>K.S.H. Liyanage  |  IT4041  |  PRISMA 2020 [13]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10528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850" b="0" i="0">
                <a:solidFill>
                  <a:srgbClr val="4A5B6C"/>
                </a:solidFill>
                <a:latin typeface="Calibri"/>
              </a:rPr>
              <a:t>Cyber Resilience in the Energy Sector</a:t>
            </a:r>
          </a:p>
        </p:txBody>
      </p:sp>
      <p:pic>
        <p:nvPicPr>
          <p:cNvPr id="56" name="Audio 55">
            <a:hlinkClick r:id="" action="ppaction://media"/>
            <a:extLst>
              <a:ext uri="{FF2B5EF4-FFF2-40B4-BE49-F238E27FC236}">
                <a16:creationId xmlns:a16="http://schemas.microsoft.com/office/drawing/2014/main" id="{3B555CF3-60F0-33EC-4E7D-88FBDB63E3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222"/>
    </mc:Choice>
    <mc:Fallback>
      <p:transition spd="slow" advTm="522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500" b="1" i="0">
                <a:solidFill>
                  <a:srgbClr val="14283D"/>
                </a:solidFill>
                <a:latin typeface="Calibri"/>
              </a:rPr>
              <a:t>How the Threat Landscape Has Evolved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8992" y="841248"/>
            <a:ext cx="914400" cy="41148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932688"/>
            <a:ext cx="10241280" cy="34747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150" b="0" i="0">
                <a:solidFill>
                  <a:srgbClr val="4A5B6C"/>
                </a:solidFill>
                <a:latin typeface="Calibri"/>
              </a:rPr>
              <a:t>From isolated information-system risks to interconnected cyber-physical disruption.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10241280" cy="50292"/>
          </a:xfrm>
          <a:prstGeom prst="rect">
            <a:avLst/>
          </a:prstGeom>
          <a:solidFill>
            <a:srgbClr val="D3DCE6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3675888"/>
            <a:ext cx="384048" cy="384048"/>
          </a:xfrm>
          <a:prstGeom prst="ellipse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150876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350" b="1" i="0">
                <a:solidFill>
                  <a:srgbClr val="14283D"/>
                </a:solidFill>
                <a:latin typeface="Calibri"/>
              </a:rPr>
              <a:t>Traditional IT / SCADA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70248"/>
            <a:ext cx="1508760" cy="6400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150" b="0" i="0">
                <a:solidFill>
                  <a:srgbClr val="4A5B6C"/>
                </a:solidFill>
                <a:latin typeface="Calibri"/>
              </a:rPr>
              <a:t>Perimeter protection</a:t>
            </a:r>
            <a:br>
              <a:rPr sz="1150" b="0" i="0">
                <a:solidFill>
                  <a:srgbClr val="4A5B6C"/>
                </a:solidFill>
                <a:latin typeface="Calibri"/>
              </a:rPr>
            </a:br>
            <a:r>
              <a:rPr sz="1150" b="0" i="0">
                <a:solidFill>
                  <a:srgbClr val="4A5B6C"/>
                </a:solidFill>
                <a:latin typeface="Calibri"/>
              </a:rPr>
              <a:t>remote access risks</a:t>
            </a:r>
          </a:p>
        </p:txBody>
      </p:sp>
      <p:sp>
        <p:nvSpPr>
          <p:cNvPr id="10" name="Oval 9"/>
          <p:cNvSpPr/>
          <p:nvPr/>
        </p:nvSpPr>
        <p:spPr>
          <a:xfrm>
            <a:off x="3063240" y="3675888"/>
            <a:ext cx="384048" cy="384048"/>
          </a:xfrm>
          <a:prstGeom prst="ellipse">
            <a:avLst/>
          </a:prstGeom>
          <a:solidFill>
            <a:srgbClr val="41C3CC"/>
          </a:solidFill>
          <a:ln>
            <a:solidFill>
              <a:srgbClr val="41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2560320"/>
            <a:ext cx="150876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350" b="1" i="0">
                <a:solidFill>
                  <a:srgbClr val="14283D"/>
                </a:solidFill>
                <a:latin typeface="Calibri"/>
              </a:rPr>
              <a:t>Smart-grid 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270248"/>
            <a:ext cx="1508760" cy="6400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150" b="0" i="0">
                <a:solidFill>
                  <a:srgbClr val="4A5B6C"/>
                </a:solidFill>
                <a:latin typeface="Calibri"/>
              </a:rPr>
              <a:t>Sensors, IEDs,</a:t>
            </a:r>
            <a:br>
              <a:rPr sz="1150" b="0" i="0">
                <a:solidFill>
                  <a:srgbClr val="4A5B6C"/>
                </a:solidFill>
                <a:latin typeface="Calibri"/>
              </a:rPr>
            </a:br>
            <a:r>
              <a:rPr sz="1150" b="0" i="0">
                <a:solidFill>
                  <a:srgbClr val="4A5B6C"/>
                </a:solidFill>
                <a:latin typeface="Calibri"/>
              </a:rPr>
              <a:t>advanced metering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0" y="3675888"/>
            <a:ext cx="384048" cy="384048"/>
          </a:xfrm>
          <a:prstGeom prst="ellipse">
            <a:avLst/>
          </a:prstGeom>
          <a:solidFill>
            <a:srgbClr val="F29C4B"/>
          </a:solidFill>
          <a:ln>
            <a:solidFill>
              <a:srgbClr val="F29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560320"/>
            <a:ext cx="150876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350" b="1" i="0">
                <a:solidFill>
                  <a:srgbClr val="14283D"/>
                </a:solidFill>
                <a:latin typeface="Calibri"/>
              </a:rPr>
              <a:t>Cyber-physical attacks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4270248"/>
            <a:ext cx="1508760" cy="6400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150" b="0" i="0">
                <a:solidFill>
                  <a:srgbClr val="4A5B6C"/>
                </a:solidFill>
                <a:latin typeface="Calibri"/>
              </a:rPr>
              <a:t>Ukraine incident;</a:t>
            </a:r>
            <a:br>
              <a:rPr sz="1150" b="0" i="0">
                <a:solidFill>
                  <a:srgbClr val="4A5B6C"/>
                </a:solidFill>
                <a:latin typeface="Calibri"/>
              </a:rPr>
            </a:br>
            <a:r>
              <a:rPr sz="1150" b="0" i="0">
                <a:solidFill>
                  <a:srgbClr val="4A5B6C"/>
                </a:solidFill>
                <a:latin typeface="Calibri"/>
              </a:rPr>
              <a:t>control manipulation</a:t>
            </a:r>
          </a:p>
        </p:txBody>
      </p:sp>
      <p:sp>
        <p:nvSpPr>
          <p:cNvPr id="16" name="Oval 15"/>
          <p:cNvSpPr/>
          <p:nvPr/>
        </p:nvSpPr>
        <p:spPr>
          <a:xfrm>
            <a:off x="7360920" y="3675888"/>
            <a:ext cx="384048" cy="384048"/>
          </a:xfrm>
          <a:prstGeom prst="ellipse">
            <a:avLst/>
          </a:prstGeom>
          <a:solidFill>
            <a:srgbClr val="8D71D2"/>
          </a:solidFill>
          <a:ln>
            <a:solidFill>
              <a:srgbClr val="8D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0" y="2560320"/>
            <a:ext cx="150876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350" b="1" i="0">
                <a:solidFill>
                  <a:srgbClr val="14283D"/>
                </a:solidFill>
                <a:latin typeface="Calibri"/>
              </a:rPr>
              <a:t>Distributed 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270248"/>
            <a:ext cx="1508760" cy="6400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150" b="0" i="0">
                <a:solidFill>
                  <a:srgbClr val="4A5B6C"/>
                </a:solidFill>
                <a:latin typeface="Calibri"/>
              </a:rPr>
              <a:t>DERs, microgrids,</a:t>
            </a:r>
            <a:br>
              <a:rPr sz="1150" b="0" i="0">
                <a:solidFill>
                  <a:srgbClr val="4A5B6C"/>
                </a:solidFill>
                <a:latin typeface="Calibri"/>
              </a:rPr>
            </a:br>
            <a:r>
              <a:rPr sz="1150" b="0" i="0">
                <a:solidFill>
                  <a:srgbClr val="4A5B6C"/>
                </a:solidFill>
                <a:latin typeface="Calibri"/>
              </a:rPr>
              <a:t>inverter-based resources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0" y="3675888"/>
            <a:ext cx="384048" cy="384048"/>
          </a:xfrm>
          <a:prstGeom prst="ellipse">
            <a:avLst/>
          </a:prstGeom>
          <a:solidFill>
            <a:srgbClr val="52BE87"/>
          </a:solidFill>
          <a:ln>
            <a:solidFill>
              <a:srgbClr val="52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60" y="2560320"/>
            <a:ext cx="150876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350" b="1" i="0">
                <a:solidFill>
                  <a:srgbClr val="14283D"/>
                </a:solidFill>
                <a:latin typeface="Calibri"/>
              </a:rPr>
              <a:t>Resilience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4270248"/>
            <a:ext cx="1508760" cy="6400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150" b="0" i="0">
                <a:solidFill>
                  <a:srgbClr val="4A5B6C"/>
                </a:solidFill>
                <a:latin typeface="Calibri"/>
              </a:rPr>
              <a:t>Adaptive defense,</a:t>
            </a:r>
            <a:br>
              <a:rPr sz="1150" b="0" i="0">
                <a:solidFill>
                  <a:srgbClr val="4A5B6C"/>
                </a:solidFill>
                <a:latin typeface="Calibri"/>
              </a:rPr>
            </a:br>
            <a:r>
              <a:rPr sz="1150" b="0" i="0">
                <a:solidFill>
                  <a:srgbClr val="4A5B6C"/>
                </a:solidFill>
                <a:latin typeface="Calibri"/>
              </a:rPr>
              <a:t>recovery,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1353312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Longitudinal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664208"/>
            <a:ext cx="10698480" cy="6400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000" b="1" i="0">
                <a:solidFill>
                  <a:srgbClr val="14283D"/>
                </a:solidFill>
                <a:latin typeface="Calibri"/>
              </a:rPr>
              <a:t>The research trajectory moves from protecting systems → detecting attacks → maintaining operations under attack → designing systems for resilience.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59436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850" b="0" i="0">
                <a:solidFill>
                  <a:srgbClr val="4A5B6C"/>
                </a:solidFill>
                <a:latin typeface="Calibri"/>
              </a:rPr>
              <a:t>Sources discussed in the review: [1], [4], [5], [7]–[12]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510528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850" b="0" i="0">
                <a:solidFill>
                  <a:srgbClr val="4A5B6C"/>
                </a:solidFill>
                <a:latin typeface="Calibri"/>
              </a:rPr>
              <a:t>Cyber Resilience in the Energy Sector</a:t>
            </a:r>
          </a:p>
        </p:txBody>
      </p:sp>
      <p:pic>
        <p:nvPicPr>
          <p:cNvPr id="42" name="Audio 41">
            <a:hlinkClick r:id="" action="ppaction://media"/>
            <a:extLst>
              <a:ext uri="{FF2B5EF4-FFF2-40B4-BE49-F238E27FC236}">
                <a16:creationId xmlns:a16="http://schemas.microsoft.com/office/drawing/2014/main" id="{D849D656-C8B0-7C92-D13E-80B359E17D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805"/>
    </mc:Choice>
    <mc:Fallback>
      <p:transition spd="slow" advTm="608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500" b="1" i="0">
                <a:solidFill>
                  <a:srgbClr val="14283D"/>
                </a:solidFill>
                <a:latin typeface="Calibri"/>
              </a:rPr>
              <a:t>Major Cyber Threats to Energy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8992" y="841248"/>
            <a:ext cx="914400" cy="41148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932688"/>
            <a:ext cx="10241280" cy="34747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150" b="0" i="0">
                <a:solidFill>
                  <a:srgbClr val="4A5B6C"/>
                </a:solidFill>
                <a:latin typeface="Calibri"/>
              </a:rPr>
              <a:t>Threats increasingly target integrity, availability, control and trusted operational pathways.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154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4864" cy="1691640"/>
          </a:xfrm>
          <a:prstGeom prst="rect">
            <a:avLst/>
          </a:prstGeom>
          <a:solidFill>
            <a:srgbClr val="E15B5B"/>
          </a:solidFill>
          <a:ln>
            <a:solidFill>
              <a:srgbClr val="E1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2788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False Data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01952"/>
            <a:ext cx="2788920" cy="97840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10" b="0" i="0">
                <a:solidFill>
                  <a:srgbClr val="4A5B6C"/>
                </a:solidFill>
                <a:latin typeface="Calibri"/>
              </a:rPr>
              <a:t>Corrupt measurements or state estimates to influence grid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7" y="1325880"/>
            <a:ext cx="3154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33087" y="1325880"/>
            <a:ext cx="54864" cy="1691640"/>
          </a:xfrm>
          <a:prstGeom prst="rect">
            <a:avLst/>
          </a:prstGeom>
          <a:solidFill>
            <a:srgbClr val="F29C4B"/>
          </a:solidFill>
          <a:ln>
            <a:solidFill>
              <a:srgbClr val="F29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34255" y="1490472"/>
            <a:ext cx="2788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Ransomware &amp; Malware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5" y="1901952"/>
            <a:ext cx="2788920" cy="97840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10" b="0" i="0">
                <a:solidFill>
                  <a:srgbClr val="4A5B6C"/>
                </a:solidFill>
                <a:latin typeface="Calibri"/>
              </a:rPr>
              <a:t>Disrupt business IT and potentially affect operational continuity.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1325880"/>
            <a:ext cx="3154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26096" y="1325880"/>
            <a:ext cx="54864" cy="1691640"/>
          </a:xfrm>
          <a:prstGeom prst="rect">
            <a:avLst/>
          </a:prstGeom>
          <a:solidFill>
            <a:srgbClr val="41C3CC"/>
          </a:solidFill>
          <a:ln>
            <a:solidFill>
              <a:srgbClr val="41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27264" y="1490472"/>
            <a:ext cx="2788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Denial of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1901952"/>
            <a:ext cx="2788920" cy="97840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10" b="0" i="0">
                <a:solidFill>
                  <a:srgbClr val="4A5B6C"/>
                </a:solidFill>
                <a:latin typeface="Calibri"/>
              </a:rPr>
              <a:t>Reduce visibility or communication availability for operators and controllers.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3154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54864" cy="1691640"/>
          </a:xfrm>
          <a:prstGeom prst="rect">
            <a:avLst/>
          </a:prstGeom>
          <a:solidFill>
            <a:srgbClr val="8D71D2"/>
          </a:solidFill>
          <a:ln>
            <a:solidFill>
              <a:srgbClr val="8D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593592"/>
            <a:ext cx="2788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Credential Compromise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005072"/>
            <a:ext cx="2788920" cy="97840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10" b="0" i="0">
                <a:solidFill>
                  <a:srgbClr val="4A5B6C"/>
                </a:solidFill>
                <a:latin typeface="Calibri"/>
              </a:rPr>
              <a:t>Abuse privileged or remote-access identities to enter trusted environments.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33087" y="3429000"/>
            <a:ext cx="3154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33087" y="3429000"/>
            <a:ext cx="54864" cy="1691640"/>
          </a:xfrm>
          <a:prstGeom prst="rect">
            <a:avLst/>
          </a:prstGeom>
          <a:solidFill>
            <a:srgbClr val="52BE87"/>
          </a:solidFill>
          <a:ln>
            <a:solidFill>
              <a:srgbClr val="52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34255" y="3593592"/>
            <a:ext cx="2788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Supply-Chain Weakness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5" y="4005072"/>
            <a:ext cx="2788920" cy="97840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10" b="0" i="0">
                <a:solidFill>
                  <a:srgbClr val="4A5B6C"/>
                </a:solidFill>
                <a:latin typeface="Calibri"/>
              </a:rPr>
              <a:t>Compromise software, vendors, firmware or connected components.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26096" y="3429000"/>
            <a:ext cx="31546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26096" y="3429000"/>
            <a:ext cx="54864" cy="1691640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27264" y="3593592"/>
            <a:ext cx="2788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Cascading Failure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27264" y="4005072"/>
            <a:ext cx="2788920" cy="97840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10" b="0" i="0">
                <a:solidFill>
                  <a:srgbClr val="4A5B6C"/>
                </a:solidFill>
                <a:latin typeface="Calibri"/>
              </a:rPr>
              <a:t>Cyber compromise propagates through coupled cyber and physical networks.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59436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850" b="0" i="0">
                <a:solidFill>
                  <a:srgbClr val="4A5B6C"/>
                </a:solidFill>
                <a:latin typeface="Calibri"/>
              </a:rPr>
              <a:t>Key literature: [5], [7]–[10], [14], [16]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10528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850" b="0" i="0">
                <a:solidFill>
                  <a:srgbClr val="4A5B6C"/>
                </a:solidFill>
                <a:latin typeface="Calibri"/>
              </a:rPr>
              <a:t>Cyber Resilience in the Energy Sector</a:t>
            </a:r>
          </a:p>
        </p:txBody>
      </p:sp>
      <p:pic>
        <p:nvPicPr>
          <p:cNvPr id="67" name="Audio 66">
            <a:hlinkClick r:id="" action="ppaction://media"/>
            <a:extLst>
              <a:ext uri="{FF2B5EF4-FFF2-40B4-BE49-F238E27FC236}">
                <a16:creationId xmlns:a16="http://schemas.microsoft.com/office/drawing/2014/main" id="{F1896783-CB76-7DED-82B4-61EC52B49A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284"/>
    </mc:Choice>
    <mc:Fallback>
      <p:transition spd="slow" advTm="602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500" b="1" i="0">
                <a:solidFill>
                  <a:srgbClr val="14283D"/>
                </a:solidFill>
                <a:latin typeface="Calibri"/>
              </a:rPr>
              <a:t>Resilience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8992" y="841248"/>
            <a:ext cx="914400" cy="41148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932688"/>
            <a:ext cx="10241280" cy="34747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150" b="0" i="0">
                <a:solidFill>
                  <a:srgbClr val="4A5B6C"/>
                </a:solidFill>
                <a:latin typeface="Calibri"/>
              </a:rPr>
              <a:t>Effective resilience requires multiple layers rather than a single security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0116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2011680" cy="73152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965960"/>
            <a:ext cx="1737360" cy="4114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600" b="1" i="0">
                <a:solidFill>
                  <a:srgbClr val="14283D"/>
                </a:solidFill>
                <a:latin typeface="Calibri"/>
              </a:rPr>
              <a:t>PREVENT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51760"/>
            <a:ext cx="1600200" cy="1417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300" b="0" i="0">
                <a:solidFill>
                  <a:srgbClr val="4A5B6C"/>
                </a:solidFill>
                <a:latin typeface="Calibri"/>
              </a:rPr>
              <a:t>Secure architecture</a:t>
            </a:r>
            <a:br>
              <a:rPr sz="1300" b="0" i="0">
                <a:solidFill>
                  <a:srgbClr val="4A5B6C"/>
                </a:solidFill>
                <a:latin typeface="Calibri"/>
              </a:rPr>
            </a:br>
            <a:r>
              <a:rPr sz="1300" b="0" i="0">
                <a:solidFill>
                  <a:srgbClr val="4A5B6C"/>
                </a:solidFill>
                <a:latin typeface="Calibri"/>
              </a:rPr>
              <a:t>Identity &amp; access</a:t>
            </a:r>
            <a:br>
              <a:rPr sz="1300" b="0" i="0">
                <a:solidFill>
                  <a:srgbClr val="4A5B6C"/>
                </a:solidFill>
                <a:latin typeface="Calibri"/>
              </a:rPr>
            </a:br>
            <a:r>
              <a:rPr sz="1300" b="0" i="0">
                <a:solidFill>
                  <a:srgbClr val="4A5B6C"/>
                </a:solidFill>
                <a:latin typeface="Calibri"/>
              </a:rPr>
              <a:t>Defense in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926080"/>
            <a:ext cx="27432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800" b="1" i="0">
                <a:solidFill>
                  <a:srgbClr val="4A5B6C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1600200"/>
            <a:ext cx="20116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44368" y="1600200"/>
            <a:ext cx="2011680" cy="73152"/>
          </a:xfrm>
          <a:prstGeom prst="rect">
            <a:avLst/>
          </a:prstGeom>
          <a:solidFill>
            <a:srgbClr val="41C3CC"/>
          </a:solidFill>
          <a:ln>
            <a:solidFill>
              <a:srgbClr val="41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81527" y="1965960"/>
            <a:ext cx="1737360" cy="4114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600" b="1" i="0">
                <a:solidFill>
                  <a:srgbClr val="14283D"/>
                </a:solidFill>
                <a:latin typeface="Calibri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651760"/>
            <a:ext cx="1600200" cy="1417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300" b="0" i="0">
                <a:solidFill>
                  <a:srgbClr val="4A5B6C"/>
                </a:solidFill>
                <a:latin typeface="Calibri"/>
              </a:rPr>
              <a:t>Situational awareness</a:t>
            </a:r>
            <a:br>
              <a:rPr sz="1300" b="0" i="0">
                <a:solidFill>
                  <a:srgbClr val="4A5B6C"/>
                </a:solidFill>
                <a:latin typeface="Calibri"/>
              </a:rPr>
            </a:br>
            <a:r>
              <a:rPr sz="1300" b="0" i="0">
                <a:solidFill>
                  <a:srgbClr val="4A5B6C"/>
                </a:solidFill>
                <a:latin typeface="Calibri"/>
              </a:rPr>
              <a:t>Anomaly detection</a:t>
            </a:r>
            <a:br>
              <a:rPr sz="1300" b="0" i="0">
                <a:solidFill>
                  <a:srgbClr val="4A5B6C"/>
                </a:solidFill>
                <a:latin typeface="Calibri"/>
              </a:rPr>
            </a:br>
            <a:r>
              <a:rPr sz="1300" b="0" i="0">
                <a:solidFill>
                  <a:srgbClr val="4A5B6C"/>
                </a:solidFill>
                <a:latin typeface="Calibri"/>
              </a:rPr>
              <a:t>AI / graph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926080"/>
            <a:ext cx="27432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800" b="1" i="0">
                <a:solidFill>
                  <a:srgbClr val="4A5B6C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8" y="1600200"/>
            <a:ext cx="20116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30368" y="1600200"/>
            <a:ext cx="2011680" cy="73152"/>
          </a:xfrm>
          <a:prstGeom prst="rect">
            <a:avLst/>
          </a:prstGeom>
          <a:solidFill>
            <a:srgbClr val="F29C4B"/>
          </a:solidFill>
          <a:ln>
            <a:solidFill>
              <a:srgbClr val="F29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67528" y="1965960"/>
            <a:ext cx="1737360" cy="4114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600" b="1" i="0">
                <a:solidFill>
                  <a:srgbClr val="14283D"/>
                </a:solidFill>
                <a:latin typeface="Calibri"/>
              </a:rPr>
              <a:t>MITIGATE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2651760"/>
            <a:ext cx="1600200" cy="1417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300" b="0" i="0">
                <a:solidFill>
                  <a:srgbClr val="4A5B6C"/>
                </a:solidFill>
                <a:latin typeface="Calibri"/>
              </a:rPr>
              <a:t>Containment</a:t>
            </a:r>
            <a:br>
              <a:rPr sz="1300" b="0" i="0">
                <a:solidFill>
                  <a:srgbClr val="4A5B6C"/>
                </a:solidFill>
                <a:latin typeface="Calibri"/>
              </a:rPr>
            </a:br>
            <a:r>
              <a:rPr sz="1300" b="0" i="0">
                <a:solidFill>
                  <a:srgbClr val="4A5B6C"/>
                </a:solidFill>
                <a:latin typeface="Calibri"/>
              </a:rPr>
              <a:t>Redundancy</a:t>
            </a:r>
            <a:br>
              <a:rPr sz="1300" b="0" i="0">
                <a:solidFill>
                  <a:srgbClr val="4A5B6C"/>
                </a:solidFill>
                <a:latin typeface="Calibri"/>
              </a:rPr>
            </a:br>
            <a:r>
              <a:rPr sz="1300" b="0" i="0">
                <a:solidFill>
                  <a:srgbClr val="4A5B6C"/>
                </a:solidFill>
                <a:latin typeface="Calibri"/>
              </a:rPr>
              <a:t>Resilient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26080"/>
            <a:ext cx="27432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800" b="1" i="0">
                <a:solidFill>
                  <a:srgbClr val="4A5B6C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16368" y="1600200"/>
            <a:ext cx="20116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16368" y="1600200"/>
            <a:ext cx="2011680" cy="73152"/>
          </a:xfrm>
          <a:prstGeom prst="rect">
            <a:avLst/>
          </a:prstGeom>
          <a:solidFill>
            <a:srgbClr val="8D71D2"/>
          </a:solidFill>
          <a:ln>
            <a:solidFill>
              <a:srgbClr val="8D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53528" y="1965960"/>
            <a:ext cx="1737360" cy="4114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600" b="1" i="0">
                <a:solidFill>
                  <a:srgbClr val="14283D"/>
                </a:solidFill>
                <a:latin typeface="Calibri"/>
              </a:rPr>
              <a:t>ADAPT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2651760"/>
            <a:ext cx="1600200" cy="1417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300" b="0" i="0">
                <a:solidFill>
                  <a:srgbClr val="4A5B6C"/>
                </a:solidFill>
                <a:latin typeface="Calibri"/>
              </a:rPr>
              <a:t>Dynamic response</a:t>
            </a:r>
            <a:br>
              <a:rPr sz="1300" b="0" i="0">
                <a:solidFill>
                  <a:srgbClr val="4A5B6C"/>
                </a:solidFill>
                <a:latin typeface="Calibri"/>
              </a:rPr>
            </a:br>
            <a:r>
              <a:rPr sz="1300" b="0" i="0">
                <a:solidFill>
                  <a:srgbClr val="4A5B6C"/>
                </a:solidFill>
                <a:latin typeface="Calibri"/>
              </a:rPr>
              <a:t>Distributed mechanisms</a:t>
            </a:r>
            <a:br>
              <a:rPr sz="1300" b="0" i="0">
                <a:solidFill>
                  <a:srgbClr val="4A5B6C"/>
                </a:solidFill>
                <a:latin typeface="Calibri"/>
              </a:rPr>
            </a:br>
            <a:r>
              <a:rPr sz="1300" b="0" i="0">
                <a:solidFill>
                  <a:srgbClr val="4A5B6C"/>
                </a:solidFill>
                <a:latin typeface="Calibri"/>
              </a:rPr>
              <a:t>Context-aware defense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926080"/>
            <a:ext cx="27432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800" b="1" i="0">
                <a:solidFill>
                  <a:srgbClr val="4A5B6C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02368" y="1600200"/>
            <a:ext cx="20116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02368" y="1600200"/>
            <a:ext cx="2011680" cy="73152"/>
          </a:xfrm>
          <a:prstGeom prst="rect">
            <a:avLst/>
          </a:prstGeom>
          <a:solidFill>
            <a:srgbClr val="52BE87"/>
          </a:solidFill>
          <a:ln>
            <a:solidFill>
              <a:srgbClr val="52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9528" y="1965960"/>
            <a:ext cx="1737360" cy="4114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600" b="1" i="0">
                <a:solidFill>
                  <a:srgbClr val="14283D"/>
                </a:solidFill>
                <a:latin typeface="Calibri"/>
              </a:rPr>
              <a:t>RECOVER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6" y="2651760"/>
            <a:ext cx="1600200" cy="1417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300" b="0" i="0">
                <a:solidFill>
                  <a:srgbClr val="4A5B6C"/>
                </a:solidFill>
                <a:latin typeface="Calibri"/>
              </a:rPr>
              <a:t>IT/OT restoration</a:t>
            </a:r>
            <a:br>
              <a:rPr sz="1300" b="0" i="0">
                <a:solidFill>
                  <a:srgbClr val="4A5B6C"/>
                </a:solidFill>
                <a:latin typeface="Calibri"/>
              </a:rPr>
            </a:br>
            <a:r>
              <a:rPr sz="1300" b="0" i="0">
                <a:solidFill>
                  <a:srgbClr val="4A5B6C"/>
                </a:solidFill>
                <a:latin typeface="Calibri"/>
              </a:rPr>
              <a:t>Safe operating modes</a:t>
            </a:r>
            <a:br>
              <a:rPr sz="1300" b="0" i="0">
                <a:solidFill>
                  <a:srgbClr val="4A5B6C"/>
                </a:solidFill>
                <a:latin typeface="Calibri"/>
              </a:rPr>
            </a:br>
            <a:r>
              <a:rPr sz="1300" b="0" i="0">
                <a:solidFill>
                  <a:srgbClr val="4A5B6C"/>
                </a:solidFill>
                <a:latin typeface="Calibri"/>
              </a:rPr>
              <a:t>Continuity planning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57800"/>
            <a:ext cx="10515600" cy="6400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900" b="1" i="0">
                <a:solidFill>
                  <a:srgbClr val="14283D"/>
                </a:solidFill>
                <a:latin typeface="Calibri"/>
              </a:rPr>
              <a:t>The central resilience principle: assume that prevention can fail — then preserve essential functions and recover safely.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59436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850" b="0" i="0">
                <a:solidFill>
                  <a:srgbClr val="4A5B6C"/>
                </a:solidFill>
                <a:latin typeface="Calibri"/>
              </a:rPr>
              <a:t>Literature synthesis: [6]–[12], [14]–[16]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10528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850" b="0" i="0">
                <a:solidFill>
                  <a:srgbClr val="4A5B6C"/>
                </a:solidFill>
                <a:latin typeface="Calibri"/>
              </a:rPr>
              <a:t>Cyber Resilience in the Energy Sector</a:t>
            </a:r>
          </a:p>
        </p:txBody>
      </p:sp>
      <p:pic>
        <p:nvPicPr>
          <p:cNvPr id="61" name="Audio 60">
            <a:hlinkClick r:id="" action="ppaction://media"/>
            <a:extLst>
              <a:ext uri="{FF2B5EF4-FFF2-40B4-BE49-F238E27FC236}">
                <a16:creationId xmlns:a16="http://schemas.microsoft.com/office/drawing/2014/main" id="{38F80E56-B4AC-37F9-A05A-72E9146FBC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198"/>
    </mc:Choice>
    <mc:Fallback>
      <p:transition spd="slow" advTm="591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500" b="1" i="0">
                <a:solidFill>
                  <a:srgbClr val="14283D"/>
                </a:solidFill>
                <a:latin typeface="Calibri"/>
              </a:rPr>
              <a:t>What the Literature Shows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8992" y="841248"/>
            <a:ext cx="914400" cy="41148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932688"/>
            <a:ext cx="10241280" cy="34747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150" b="0" i="0">
                <a:solidFill>
                  <a:srgbClr val="4A5B6C"/>
                </a:solidFill>
                <a:latin typeface="Calibri"/>
              </a:rPr>
              <a:t>The field is progressing, but several evidence and deployment gaps remain.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ESTABLISHED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73352"/>
            <a:ext cx="5166360" cy="32461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57A70"/>
                </a:solidFill>
                <a:latin typeface="Calibri"/>
              </a:rPr>
              <a:t>●  </a:t>
            </a:r>
            <a:r>
              <a:rPr sz="1400">
                <a:solidFill>
                  <a:srgbClr val="1F3347"/>
                </a:solidFill>
                <a:latin typeface="Calibri"/>
              </a:rPr>
              <a:t>Research is shifting toward architecture-aware and cyber-physical resilience.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57A70"/>
                </a:solidFill>
                <a:latin typeface="Calibri"/>
              </a:rPr>
              <a:t>●  </a:t>
            </a:r>
            <a:r>
              <a:rPr sz="1400">
                <a:solidFill>
                  <a:srgbClr val="1F3347"/>
                </a:solidFill>
                <a:latin typeface="Calibri"/>
              </a:rPr>
              <a:t>AI and graph-based methods increasingly support detection and situational awareness.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57A70"/>
                </a:solidFill>
                <a:latin typeface="Calibri"/>
              </a:rPr>
              <a:t>●  </a:t>
            </a:r>
            <a:r>
              <a:rPr sz="1400">
                <a:solidFill>
                  <a:srgbClr val="1F3347"/>
                </a:solidFill>
                <a:latin typeface="Calibri"/>
              </a:rPr>
              <a:t>DERs, renewables and microgrids are creating new resilience requirements.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57A70"/>
                </a:solidFill>
                <a:latin typeface="Calibri"/>
              </a:rPr>
              <a:t>●  </a:t>
            </a:r>
            <a:r>
              <a:rPr sz="1400">
                <a:solidFill>
                  <a:srgbClr val="1F3347"/>
                </a:solidFill>
                <a:latin typeface="Calibri"/>
              </a:rPr>
              <a:t>Resilience is increasingly framed as prevention + response + recovery.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98448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C26A12"/>
                </a:solidFill>
                <a:latin typeface="Calibri"/>
              </a:rPr>
              <a:t>RESEARCH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691640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 i="0">
                <a:solidFill>
                  <a:srgbClr val="14283D"/>
                </a:solidFill>
                <a:latin typeface="Calibri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691640"/>
            <a:ext cx="3977639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70" b="0" i="0">
                <a:solidFill>
                  <a:srgbClr val="4A5B6C"/>
                </a:solidFill>
                <a:latin typeface="Calibri"/>
              </a:rPr>
              <a:t>Few standard measures connect cyber events to operational resilience.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2560320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 i="0">
                <a:solidFill>
                  <a:srgbClr val="14283D"/>
                </a:solidFill>
                <a:latin typeface="Calibri"/>
              </a:rP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560320"/>
            <a:ext cx="3977639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70" b="0" i="0">
                <a:solidFill>
                  <a:srgbClr val="4A5B6C"/>
                </a:solidFill>
                <a:latin typeface="Calibri"/>
              </a:rPr>
              <a:t>Many approaches remain dependent on simulations and test systems.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3429000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 i="0">
                <a:solidFill>
                  <a:srgbClr val="14283D"/>
                </a:solidFill>
                <a:latin typeface="Calibri"/>
              </a:rPr>
              <a:t>Adaptation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429000"/>
            <a:ext cx="3977639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70" b="0" i="0">
                <a:solidFill>
                  <a:srgbClr val="4A5B6C"/>
                </a:solidFill>
                <a:latin typeface="Calibri"/>
              </a:rPr>
              <a:t>Defenses must handle changing attack strategies and system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4297680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00" b="1" i="0">
                <a:solidFill>
                  <a:srgbClr val="14283D"/>
                </a:solidFill>
                <a:latin typeface="Calibri"/>
              </a:rPr>
              <a:t>IT/OT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297680"/>
            <a:ext cx="3977639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70" b="0" i="0">
                <a:solidFill>
                  <a:srgbClr val="4A5B6C"/>
                </a:solidFill>
                <a:latin typeface="Calibri"/>
              </a:rPr>
              <a:t>Technical controls and organisational restoration are not always integrated.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59436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850" b="0" i="0">
                <a:solidFill>
                  <a:srgbClr val="4A5B6C"/>
                </a:solidFill>
                <a:latin typeface="Calibri"/>
              </a:rPr>
              <a:t>Synthesis based on [7]–[12], [14], [15]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6510528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850" b="0" i="0">
                <a:solidFill>
                  <a:srgbClr val="4A5B6C"/>
                </a:solidFill>
                <a:latin typeface="Calibri"/>
              </a:rPr>
              <a:t>Cyber Resilience in the Energy Sector</a:t>
            </a:r>
          </a:p>
        </p:txBody>
      </p:sp>
      <p:pic>
        <p:nvPicPr>
          <p:cNvPr id="46" name="Audio 45">
            <a:hlinkClick r:id="" action="ppaction://media"/>
            <a:extLst>
              <a:ext uri="{FF2B5EF4-FFF2-40B4-BE49-F238E27FC236}">
                <a16:creationId xmlns:a16="http://schemas.microsoft.com/office/drawing/2014/main" id="{33F9BD5C-0120-F69B-EA2F-5FF1C61E78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615"/>
    </mc:Choice>
    <mc:Fallback>
      <p:transition spd="slow" advTm="596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500" b="1" i="0">
                <a:solidFill>
                  <a:srgbClr val="14283D"/>
                </a:solidFill>
                <a:latin typeface="Calibri"/>
              </a:rPr>
              <a:t>Future Research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8992" y="841248"/>
            <a:ext cx="914400" cy="41148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932688"/>
            <a:ext cx="10241280" cy="34747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150" b="0" i="0">
                <a:solidFill>
                  <a:srgbClr val="4A5B6C"/>
                </a:solidFill>
                <a:latin typeface="Calibri"/>
              </a:rPr>
              <a:t>Five directions emerge from the limitations identified across the literature.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61872"/>
            <a:ext cx="566928" cy="566928"/>
          </a:xfrm>
          <a:prstGeom prst="round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66928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200" b="1" i="0">
                <a:solidFill>
                  <a:srgbClr val="09162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252728"/>
            <a:ext cx="2880360" cy="29260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50" b="1" i="0">
                <a:solidFill>
                  <a:srgbClr val="14283D"/>
                </a:solidFill>
                <a:latin typeface="Calibri"/>
              </a:rPr>
              <a:t>Operational resilience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243584"/>
            <a:ext cx="708660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80" b="0" i="0">
                <a:solidFill>
                  <a:srgbClr val="4A5B6C"/>
                </a:solidFill>
                <a:latin typeface="Calibri"/>
              </a:rPr>
              <a:t>Develop standard measures linked to service continuity, safe operation and recovery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03704"/>
            <a:ext cx="566928" cy="566928"/>
          </a:xfrm>
          <a:prstGeom prst="roundRect">
            <a:avLst/>
          </a:prstGeom>
          <a:solidFill>
            <a:srgbClr val="41C3CC"/>
          </a:solidFill>
          <a:ln>
            <a:solidFill>
              <a:srgbClr val="41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566928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200" b="1" i="0">
                <a:solidFill>
                  <a:srgbClr val="091626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94560"/>
            <a:ext cx="2880360" cy="29260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50" b="1" i="0">
                <a:solidFill>
                  <a:srgbClr val="14283D"/>
                </a:solidFill>
                <a:latin typeface="Calibri"/>
              </a:rPr>
              <a:t>Adaptive cyber-physical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185416"/>
            <a:ext cx="708660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80" b="0" i="0">
                <a:solidFill>
                  <a:srgbClr val="4A5B6C"/>
                </a:solidFill>
                <a:latin typeface="Calibri"/>
              </a:rPr>
              <a:t>Move beyond static controls toward defenses that respond to changing attacks and system conditions.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45536"/>
            <a:ext cx="566928" cy="566928"/>
          </a:xfrm>
          <a:prstGeom prst="roundRect">
            <a:avLst/>
          </a:prstGeom>
          <a:solidFill>
            <a:srgbClr val="F29C4B"/>
          </a:solidFill>
          <a:ln>
            <a:solidFill>
              <a:srgbClr val="F29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566928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200" b="1" i="0">
                <a:solidFill>
                  <a:srgbClr val="091626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136392"/>
            <a:ext cx="2880360" cy="29260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50" b="1" i="0">
                <a:solidFill>
                  <a:srgbClr val="14283D"/>
                </a:solidFill>
                <a:latin typeface="Calibri"/>
              </a:rPr>
              <a:t>Digital twins &amp; testbeds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127248"/>
            <a:ext cx="708660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80" b="0" i="0">
                <a:solidFill>
                  <a:srgbClr val="4A5B6C"/>
                </a:solidFill>
                <a:latin typeface="Calibri"/>
              </a:rPr>
              <a:t>Bridge the gap between simulation and real infrastructure using realistic cyber-physical validation.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87368"/>
            <a:ext cx="566928" cy="566928"/>
          </a:xfrm>
          <a:prstGeom prst="roundRect">
            <a:avLst/>
          </a:prstGeom>
          <a:solidFill>
            <a:srgbClr val="8D71D2"/>
          </a:solidFill>
          <a:ln>
            <a:solidFill>
              <a:srgbClr val="8D7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197096"/>
            <a:ext cx="566928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200" b="1" i="0">
                <a:solidFill>
                  <a:srgbClr val="091626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078224"/>
            <a:ext cx="2880360" cy="29260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50" b="1" i="0">
                <a:solidFill>
                  <a:srgbClr val="14283D"/>
                </a:solidFill>
                <a:latin typeface="Calibri"/>
              </a:rPr>
              <a:t>Resilience-by-design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069080"/>
            <a:ext cx="708660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80" b="0" i="0">
                <a:solidFill>
                  <a:srgbClr val="4A5B6C"/>
                </a:solidFill>
                <a:latin typeface="Calibri"/>
              </a:rPr>
              <a:t>Build security into DERs, renewables, microgrids, identity, communications and fail-safe modes.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29200"/>
            <a:ext cx="566928" cy="566928"/>
          </a:xfrm>
          <a:prstGeom prst="roundRect">
            <a:avLst/>
          </a:prstGeom>
          <a:solidFill>
            <a:srgbClr val="52BE87"/>
          </a:solidFill>
          <a:ln>
            <a:solidFill>
              <a:srgbClr val="52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138928"/>
            <a:ext cx="566928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200" b="1" i="0">
                <a:solidFill>
                  <a:srgbClr val="091626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5020056"/>
            <a:ext cx="2880360" cy="29260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50" b="1" i="0">
                <a:solidFill>
                  <a:srgbClr val="14283D"/>
                </a:solidFill>
                <a:latin typeface="Calibri"/>
              </a:rPr>
              <a:t>Integrated IT/OT 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5010912"/>
            <a:ext cx="708660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80" b="0" i="0">
                <a:solidFill>
                  <a:srgbClr val="4A5B6C"/>
                </a:solidFill>
                <a:latin typeface="Calibri"/>
              </a:rPr>
              <a:t>Combine technical restoration with operator workload, trusted assets and organisational decision-making.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59436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850" b="0" i="0">
                <a:solidFill>
                  <a:srgbClr val="4A5B6C"/>
                </a:solidFill>
                <a:latin typeface="Calibri"/>
              </a:rPr>
              <a:t>Future directions synthesised from [7]–[12], [15], [16]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510528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850" b="0" i="0">
                <a:solidFill>
                  <a:srgbClr val="4A5B6C"/>
                </a:solidFill>
                <a:latin typeface="Calibri"/>
              </a:rPr>
              <a:t>Cyber Resilience in the Energy Sector</a:t>
            </a:r>
          </a:p>
        </p:txBody>
      </p:sp>
      <p:pic>
        <p:nvPicPr>
          <p:cNvPr id="47" name="Audio 46">
            <a:hlinkClick r:id="" action="ppaction://media"/>
            <a:extLst>
              <a:ext uri="{FF2B5EF4-FFF2-40B4-BE49-F238E27FC236}">
                <a16:creationId xmlns:a16="http://schemas.microsoft.com/office/drawing/2014/main" id="{176F0A63-6ECA-3FB1-475F-B94A4B9B3B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066"/>
    </mc:Choice>
    <mc:Fallback>
      <p:transition spd="slow" advTm="650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500" b="1" i="0">
                <a:solidFill>
                  <a:srgbClr val="14283D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8992" y="841248"/>
            <a:ext cx="914400" cy="41148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932688"/>
            <a:ext cx="10241280" cy="34747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150" b="0" i="0">
                <a:solidFill>
                  <a:srgbClr val="4A5B6C"/>
                </a:solidFill>
                <a:latin typeface="Calibri"/>
              </a:rPr>
              <a:t>Cyber resilience must be treated as a system-level engineering requirement.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10698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719072"/>
            <a:ext cx="10058400" cy="6400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2500" b="1" i="0">
                <a:solidFill>
                  <a:srgbClr val="14283D"/>
                </a:solidFill>
                <a:latin typeface="Calibri"/>
              </a:rPr>
              <a:t>“A cyber-resilient energy sector cannot depend on a single security technology.”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46120"/>
            <a:ext cx="248716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246120"/>
            <a:ext cx="54864" cy="1508760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3410712"/>
            <a:ext cx="2121408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Protect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22191"/>
            <a:ext cx="2121408" cy="79552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10" b="0" i="0">
                <a:solidFill>
                  <a:srgbClr val="4A5B6C"/>
                </a:solidFill>
                <a:latin typeface="Calibri"/>
              </a:rPr>
              <a:t>Defense in depth and secure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246120"/>
            <a:ext cx="248716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3246120"/>
            <a:ext cx="54864" cy="1508760"/>
          </a:xfrm>
          <a:prstGeom prst="rect">
            <a:avLst/>
          </a:prstGeom>
          <a:solidFill>
            <a:srgbClr val="41C3CC"/>
          </a:solidFill>
          <a:ln>
            <a:solidFill>
              <a:srgbClr val="41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3410712"/>
            <a:ext cx="2121408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822191"/>
            <a:ext cx="2121408" cy="79552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10" b="0" i="0">
                <a:solidFill>
                  <a:srgbClr val="4A5B6C"/>
                </a:solidFill>
                <a:latin typeface="Calibri"/>
              </a:rPr>
              <a:t>Situational awareness and intelligent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246120"/>
            <a:ext cx="248716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246120"/>
            <a:ext cx="54864" cy="1508760"/>
          </a:xfrm>
          <a:prstGeom prst="rect">
            <a:avLst/>
          </a:prstGeom>
          <a:solidFill>
            <a:srgbClr val="F29C4B"/>
          </a:solidFill>
          <a:ln>
            <a:solidFill>
              <a:srgbClr val="F29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7" y="3410712"/>
            <a:ext cx="2121408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Adapt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3822191"/>
            <a:ext cx="2121408" cy="79552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10" b="0" i="0">
                <a:solidFill>
                  <a:srgbClr val="4A5B6C"/>
                </a:solidFill>
                <a:latin typeface="Calibri"/>
              </a:rPr>
              <a:t>Resilient control and response under disruption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3246120"/>
            <a:ext cx="248716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52559" y="3246120"/>
            <a:ext cx="54864" cy="1508760"/>
          </a:xfrm>
          <a:prstGeom prst="rect">
            <a:avLst/>
          </a:prstGeom>
          <a:solidFill>
            <a:srgbClr val="52BE87"/>
          </a:solidFill>
          <a:ln>
            <a:solidFill>
              <a:srgbClr val="52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3728" y="3410712"/>
            <a:ext cx="2121408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>
                <a:solidFill>
                  <a:srgbClr val="14283D"/>
                </a:solidFill>
                <a:latin typeface="Calibri"/>
              </a:rPr>
              <a:t>Recover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822191"/>
            <a:ext cx="2121408" cy="79552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10" b="0" i="0">
                <a:solidFill>
                  <a:srgbClr val="4A5B6C"/>
                </a:solidFill>
                <a:latin typeface="Calibri"/>
              </a:rPr>
              <a:t>Safe IT/OT restoration and continuity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10149840" cy="5943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800" b="1" i="0">
                <a:solidFill>
                  <a:srgbClr val="1F3347"/>
                </a:solidFill>
                <a:latin typeface="Calibri"/>
              </a:rPr>
              <a:t>As energy systems become more digital, decentralised and interconnected, cybersecurity and resilience need to be designed together.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989320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2200" b="1" i="0">
                <a:solidFill>
                  <a:srgbClr val="157A70"/>
                </a:solidFill>
                <a:latin typeface="Calibri"/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59436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850" b="0" i="0">
                <a:solidFill>
                  <a:srgbClr val="4A5B6C"/>
                </a:solidFill>
                <a:latin typeface="Calibri"/>
              </a:rPr>
              <a:t>K.S.H. Liyanage  |  IT4041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510528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850" b="0" i="0">
                <a:solidFill>
                  <a:srgbClr val="4A5B6C"/>
                </a:solidFill>
                <a:latin typeface="Calibri"/>
              </a:rPr>
              <a:t>Cyber Resilience in the Energy Sector</a:t>
            </a:r>
          </a:p>
        </p:txBody>
      </p:sp>
      <p:pic>
        <p:nvPicPr>
          <p:cNvPr id="50" name="Audio 49">
            <a:hlinkClick r:id="" action="ppaction://media"/>
            <a:extLst>
              <a:ext uri="{FF2B5EF4-FFF2-40B4-BE49-F238E27FC236}">
                <a16:creationId xmlns:a16="http://schemas.microsoft.com/office/drawing/2014/main" id="{181FA529-D3CB-21E1-C6C1-1706D6C601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363"/>
    </mc:Choice>
    <mc:Fallback>
      <p:transition spd="slow" advTm="613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0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00" b="1" i="0">
                <a:solidFill>
                  <a:srgbClr val="157A70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029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2500" b="1" i="0">
                <a:solidFill>
                  <a:srgbClr val="14283D"/>
                </a:solidFill>
                <a:latin typeface="Calibri"/>
              </a:rPr>
              <a:t>Key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8992" y="841248"/>
            <a:ext cx="914400" cy="41148"/>
          </a:xfrm>
          <a:prstGeom prst="rect">
            <a:avLst/>
          </a:prstGeom>
          <a:solidFill>
            <a:srgbClr val="24A699"/>
          </a:solidFill>
          <a:ln>
            <a:solidFill>
              <a:srgbClr val="24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932688"/>
            <a:ext cx="10241280" cy="34747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150" b="0" i="0">
                <a:solidFill>
                  <a:srgbClr val="4A5B6C"/>
                </a:solidFill>
                <a:latin typeface="Calibri"/>
              </a:rPr>
              <a:t>Selected references from the review paper.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515600" cy="44805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57A70"/>
                </a:solidFill>
                <a:latin typeface="Calibri"/>
              </a:rPr>
              <a:t>●  </a:t>
            </a:r>
            <a:r>
              <a:rPr sz="1350">
                <a:solidFill>
                  <a:srgbClr val="1F3347"/>
                </a:solidFill>
                <a:latin typeface="Calibri"/>
              </a:rPr>
              <a:t>[1] Fang et al., “Smart grid—The new and improved power grid: A survey,” IEEE, 2012.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57A70"/>
                </a:solidFill>
                <a:latin typeface="Calibri"/>
              </a:rPr>
              <a:t>●  </a:t>
            </a:r>
            <a:r>
              <a:rPr sz="1350">
                <a:solidFill>
                  <a:srgbClr val="1F3347"/>
                </a:solidFill>
                <a:latin typeface="Calibri"/>
              </a:rPr>
              <a:t>[5] Islam et al., “Cyber-physical cascading failure and resilience of power grid,” 2023.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57A70"/>
                </a:solidFill>
                <a:latin typeface="Calibri"/>
              </a:rPr>
              <a:t>●  </a:t>
            </a:r>
            <a:r>
              <a:rPr sz="1350">
                <a:solidFill>
                  <a:srgbClr val="1F3347"/>
                </a:solidFill>
                <a:latin typeface="Calibri"/>
              </a:rPr>
              <a:t>[7] Liu et al., “Enhancing cyber-resiliency of DER-based smart grid: A survey,” IEEE TSG, 2024.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57A70"/>
                </a:solidFill>
                <a:latin typeface="Calibri"/>
              </a:rPr>
              <a:t>●  </a:t>
            </a:r>
            <a:r>
              <a:rPr sz="1350">
                <a:solidFill>
                  <a:srgbClr val="1F3347"/>
                </a:solidFill>
                <a:latin typeface="Calibri"/>
              </a:rPr>
              <a:t>[8] Hou et al., “Cyber resilience of power electronics-enabled power systems,” 2024.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57A70"/>
                </a:solidFill>
                <a:latin typeface="Calibri"/>
              </a:rPr>
              <a:t>●  </a:t>
            </a:r>
            <a:r>
              <a:rPr sz="1350">
                <a:solidFill>
                  <a:srgbClr val="1F3347"/>
                </a:solidFill>
                <a:latin typeface="Calibri"/>
              </a:rPr>
              <a:t>[10] Jørgensen &amp; Ma, “Cybersecurity and resilience of smart grids,” Applied Sciences, 2026.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57A70"/>
                </a:solidFill>
                <a:latin typeface="Calibri"/>
              </a:rPr>
              <a:t>●  </a:t>
            </a:r>
            <a:r>
              <a:rPr sz="1350">
                <a:solidFill>
                  <a:srgbClr val="1F3347"/>
                </a:solidFill>
                <a:latin typeface="Calibri"/>
              </a:rPr>
              <a:t>[11] Syrmakesis et al., “Classifying resilience approaches for protecting smart grids,” IJIS, 2022.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57A70"/>
                </a:solidFill>
                <a:latin typeface="Calibri"/>
              </a:rPr>
              <a:t>●  </a:t>
            </a:r>
            <a:r>
              <a:rPr sz="1350">
                <a:solidFill>
                  <a:srgbClr val="1F3347"/>
                </a:solidFill>
                <a:latin typeface="Calibri"/>
              </a:rPr>
              <a:t>[13] Page et al., “The PRISMA 2020 statement,” BMJ, 2021.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157A70"/>
                </a:solidFill>
                <a:latin typeface="Calibri"/>
              </a:rPr>
              <a:t>●  </a:t>
            </a:r>
            <a:r>
              <a:rPr sz="1350">
                <a:solidFill>
                  <a:srgbClr val="1F3347"/>
                </a:solidFill>
                <a:latin typeface="Calibri"/>
              </a:rPr>
              <a:t>[14] Nafees et al., “Smart grid cyber-physical situational awareness,” ACM CSUR, 2023.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25312"/>
            <a:ext cx="1051560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ctr"/>
            <a:r>
              <a:rPr sz="1250" b="0" i="1">
                <a:solidFill>
                  <a:srgbClr val="4A5B6C"/>
                </a:solidFill>
                <a:latin typeface="Calibri"/>
              </a:rPr>
              <a:t>Full IEEE reference list is provided in the accompanying review paper.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9436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850" b="0" i="0">
                <a:solidFill>
                  <a:srgbClr val="4A5B6C"/>
                </a:solidFill>
                <a:latin typeface="Calibri"/>
              </a:rPr>
              <a:t>K.S.H. Liyanage  |  IT4041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6510528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850" b="0" i="0">
                <a:solidFill>
                  <a:srgbClr val="4A5B6C"/>
                </a:solidFill>
                <a:latin typeface="Calibri"/>
              </a:rPr>
              <a:t>Cyber Resilience in the Energy Sector</a:t>
            </a:r>
          </a:p>
        </p:txBody>
      </p:sp>
      <p:pic>
        <p:nvPicPr>
          <p:cNvPr id="40" name="Audio 39">
            <a:hlinkClick r:id="" action="ppaction://media"/>
            <a:extLst>
              <a:ext uri="{FF2B5EF4-FFF2-40B4-BE49-F238E27FC236}">
                <a16:creationId xmlns:a16="http://schemas.microsoft.com/office/drawing/2014/main" id="{D0A0DB8C-179C-88E8-CC8E-59C92AAB93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781"/>
    </mc:Choice>
    <mc:Fallback>
      <p:transition spd="slow" advTm="297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7939</TotalTime>
  <Words>2644</Words>
  <Application>Microsoft Office PowerPoint</Application>
  <PresentationFormat>Widescreen</PresentationFormat>
  <Paragraphs>301</Paragraphs>
  <Slides>11</Slides>
  <Notes>11</Notes>
  <HiddenSlides>0</HiddenSlides>
  <MMClips>11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Resilience in the Energy Sector – Video Presentation</dc:title>
  <dc:subject>IT4041 Review Paper Video Presentation</dc:subject>
  <dc:creator>K.S.H. Liyanage</dc:creator>
  <cp:keywords>cyber resilience, energy sector, smart grid, cybersecurity, IT4041</cp:keywords>
  <dc:description>generated using python-pptx</dc:description>
  <cp:lastModifiedBy>LIYANAGE K S H it23382558</cp:lastModifiedBy>
  <cp:revision>3</cp:revision>
  <dcterms:created xsi:type="dcterms:W3CDTF">2013-01-27T09:14:16Z</dcterms:created>
  <dcterms:modified xsi:type="dcterms:W3CDTF">2026-10-09T09:18:15Z</dcterms:modified>
  <cp:category/>
</cp:coreProperties>
</file>